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6" r:id="rId7"/>
    <p:sldId id="260" r:id="rId8"/>
    <p:sldId id="269" r:id="rId9"/>
    <p:sldId id="261" r:id="rId10"/>
    <p:sldId id="267" r:id="rId11"/>
    <p:sldId id="271" r:id="rId12"/>
    <p:sldId id="270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D10490-9B4D-4E71-970B-211C40BA2C6F}" v="22" dt="2026-02-15T17:26:34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404" autoAdjust="0"/>
  </p:normalViewPr>
  <p:slideViewPr>
    <p:cSldViewPr snapToGrid="0">
      <p:cViewPr>
        <p:scale>
          <a:sx n="66" d="100"/>
          <a:sy n="66" d="100"/>
        </p:scale>
        <p:origin x="644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jay Gupta" userId="0ceb5ecc091c02fb" providerId="LiveId" clId="{DD70D303-2FB2-4ED7-BD6D-36242CA5B775}"/>
    <pc:docChg chg="undo custSel addSld modSld sldOrd">
      <pc:chgData name="Sanjay Gupta" userId="0ceb5ecc091c02fb" providerId="LiveId" clId="{DD70D303-2FB2-4ED7-BD6D-36242CA5B775}" dt="2026-02-15T17:30:19.318" v="95" actId="20577"/>
      <pc:docMkLst>
        <pc:docMk/>
      </pc:docMkLst>
      <pc:sldChg chg="modSp mod">
        <pc:chgData name="Sanjay Gupta" userId="0ceb5ecc091c02fb" providerId="LiveId" clId="{DD70D303-2FB2-4ED7-BD6D-36242CA5B775}" dt="2026-02-15T17:30:19.318" v="95" actId="20577"/>
        <pc:sldMkLst>
          <pc:docMk/>
          <pc:sldMk cId="2374707807" sldId="260"/>
        </pc:sldMkLst>
        <pc:spChg chg="mod">
          <ac:chgData name="Sanjay Gupta" userId="0ceb5ecc091c02fb" providerId="LiveId" clId="{DD70D303-2FB2-4ED7-BD6D-36242CA5B775}" dt="2026-02-15T17:30:19.318" v="95" actId="20577"/>
          <ac:spMkLst>
            <pc:docMk/>
            <pc:sldMk cId="2374707807" sldId="260"/>
            <ac:spMk id="6" creationId="{82F5B1B9-FB64-C4D8-3051-C1DA1DCEA113}"/>
          </ac:spMkLst>
        </pc:spChg>
      </pc:sldChg>
      <pc:sldChg chg="modSp mod">
        <pc:chgData name="Sanjay Gupta" userId="0ceb5ecc091c02fb" providerId="LiveId" clId="{DD70D303-2FB2-4ED7-BD6D-36242CA5B775}" dt="2026-02-15T14:13:10.978" v="1" actId="20577"/>
        <pc:sldMkLst>
          <pc:docMk/>
          <pc:sldMk cId="2724917500" sldId="263"/>
        </pc:sldMkLst>
        <pc:spChg chg="mod">
          <ac:chgData name="Sanjay Gupta" userId="0ceb5ecc091c02fb" providerId="LiveId" clId="{DD70D303-2FB2-4ED7-BD6D-36242CA5B775}" dt="2026-02-15T14:13:10.978" v="1" actId="20577"/>
          <ac:spMkLst>
            <pc:docMk/>
            <pc:sldMk cId="2724917500" sldId="263"/>
            <ac:spMk id="2" creationId="{5C6C5325-4A51-AE05-7BE6-440D74D0BCB6}"/>
          </ac:spMkLst>
        </pc:spChg>
      </pc:sldChg>
      <pc:sldChg chg="addSp modSp new mod ord">
        <pc:chgData name="Sanjay Gupta" userId="0ceb5ecc091c02fb" providerId="LiveId" clId="{DD70D303-2FB2-4ED7-BD6D-36242CA5B775}" dt="2026-02-15T15:02:27.482" v="18"/>
        <pc:sldMkLst>
          <pc:docMk/>
          <pc:sldMk cId="3489735974" sldId="270"/>
        </pc:sldMkLst>
        <pc:spChg chg="add mod">
          <ac:chgData name="Sanjay Gupta" userId="0ceb5ecc091c02fb" providerId="LiveId" clId="{DD70D303-2FB2-4ED7-BD6D-36242CA5B775}" dt="2026-02-15T14:52:05.494" v="10" actId="2085"/>
          <ac:spMkLst>
            <pc:docMk/>
            <pc:sldMk cId="3489735974" sldId="270"/>
            <ac:spMk id="2" creationId="{5BB07460-3C4D-9A5B-F2AF-F7411B8D3E6B}"/>
          </ac:spMkLst>
        </pc:spChg>
        <pc:spChg chg="add mod">
          <ac:chgData name="Sanjay Gupta" userId="0ceb5ecc091c02fb" providerId="LiveId" clId="{DD70D303-2FB2-4ED7-BD6D-36242CA5B775}" dt="2026-02-15T14:54:46.903" v="16" actId="1076"/>
          <ac:spMkLst>
            <pc:docMk/>
            <pc:sldMk cId="3489735974" sldId="270"/>
            <ac:spMk id="3" creationId="{86DE8BDF-D313-1EA5-8663-1B68134FD0D7}"/>
          </ac:spMkLst>
        </pc:spChg>
        <pc:picChg chg="add mod">
          <ac:chgData name="Sanjay Gupta" userId="0ceb5ecc091c02fb" providerId="LiveId" clId="{DD70D303-2FB2-4ED7-BD6D-36242CA5B775}" dt="2026-02-15T14:54:42.177" v="15" actId="1076"/>
          <ac:picMkLst>
            <pc:docMk/>
            <pc:sldMk cId="3489735974" sldId="270"/>
            <ac:picMk id="1026" creationId="{195C064B-E06D-E5C1-4D7E-9F824F351B1D}"/>
          </ac:picMkLst>
        </pc:picChg>
      </pc:sldChg>
      <pc:sldChg chg="addSp modSp new mod">
        <pc:chgData name="Sanjay Gupta" userId="0ceb5ecc091c02fb" providerId="LiveId" clId="{DD70D303-2FB2-4ED7-BD6D-36242CA5B775}" dt="2026-02-15T17:28:25.078" v="93" actId="20577"/>
        <pc:sldMkLst>
          <pc:docMk/>
          <pc:sldMk cId="1634000858" sldId="271"/>
        </pc:sldMkLst>
        <pc:spChg chg="mod">
          <ac:chgData name="Sanjay Gupta" userId="0ceb5ecc091c02fb" providerId="LiveId" clId="{DD70D303-2FB2-4ED7-BD6D-36242CA5B775}" dt="2026-02-15T17:27:30.281" v="90" actId="20577"/>
          <ac:spMkLst>
            <pc:docMk/>
            <pc:sldMk cId="1634000858" sldId="271"/>
            <ac:spMk id="2" creationId="{2F57C2E2-CF4C-60AC-50F6-1EA9C048E84F}"/>
          </ac:spMkLst>
        </pc:spChg>
        <pc:spChg chg="mod">
          <ac:chgData name="Sanjay Gupta" userId="0ceb5ecc091c02fb" providerId="LiveId" clId="{DD70D303-2FB2-4ED7-BD6D-36242CA5B775}" dt="2026-02-15T17:28:25.078" v="93" actId="20577"/>
          <ac:spMkLst>
            <pc:docMk/>
            <pc:sldMk cId="1634000858" sldId="271"/>
            <ac:spMk id="3" creationId="{6E27C2A3-7112-6966-CBAC-D6EF05E98C99}"/>
          </ac:spMkLst>
        </pc:spChg>
        <pc:spChg chg="add">
          <ac:chgData name="Sanjay Gupta" userId="0ceb5ecc091c02fb" providerId="LiveId" clId="{DD70D303-2FB2-4ED7-BD6D-36242CA5B775}" dt="2026-02-15T17:24:08.267" v="68"/>
          <ac:spMkLst>
            <pc:docMk/>
            <pc:sldMk cId="1634000858" sldId="271"/>
            <ac:spMk id="4" creationId="{66C07EF2-6C69-2EDD-C11D-34CB99603F5D}"/>
          </ac:spMkLst>
        </pc:spChg>
        <pc:spChg chg="add">
          <ac:chgData name="Sanjay Gupta" userId="0ceb5ecc091c02fb" providerId="LiveId" clId="{DD70D303-2FB2-4ED7-BD6D-36242CA5B775}" dt="2026-02-15T17:24:16.973" v="71"/>
          <ac:spMkLst>
            <pc:docMk/>
            <pc:sldMk cId="1634000858" sldId="271"/>
            <ac:spMk id="5" creationId="{B52F7142-D80E-B394-0B29-8B480652715B}"/>
          </ac:spMkLst>
        </pc:spChg>
        <pc:spChg chg="add">
          <ac:chgData name="Sanjay Gupta" userId="0ceb5ecc091c02fb" providerId="LiveId" clId="{DD70D303-2FB2-4ED7-BD6D-36242CA5B775}" dt="2026-02-15T17:24:21.543" v="72"/>
          <ac:spMkLst>
            <pc:docMk/>
            <pc:sldMk cId="1634000858" sldId="271"/>
            <ac:spMk id="6" creationId="{65EA3378-54D2-4BB8-6834-9507B09A5507}"/>
          </ac:spMkLst>
        </pc:spChg>
        <pc:spChg chg="add">
          <ac:chgData name="Sanjay Gupta" userId="0ceb5ecc091c02fb" providerId="LiveId" clId="{DD70D303-2FB2-4ED7-BD6D-36242CA5B775}" dt="2026-02-15T17:24:31.237" v="75"/>
          <ac:spMkLst>
            <pc:docMk/>
            <pc:sldMk cId="1634000858" sldId="271"/>
            <ac:spMk id="7" creationId="{60AD8578-37BA-552E-AA66-D9E40CAB3BB8}"/>
          </ac:spMkLst>
        </pc:spChg>
        <pc:spChg chg="add">
          <ac:chgData name="Sanjay Gupta" userId="0ceb5ecc091c02fb" providerId="LiveId" clId="{DD70D303-2FB2-4ED7-BD6D-36242CA5B775}" dt="2026-02-15T17:24:38.243" v="77"/>
          <ac:spMkLst>
            <pc:docMk/>
            <pc:sldMk cId="1634000858" sldId="271"/>
            <ac:spMk id="8" creationId="{F2A8E84E-230F-9ECC-BCA3-AC5345C1064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728B32-C8BD-4F9F-87EB-9A060F8AE1F7}" type="doc">
      <dgm:prSet loTypeId="urn:microsoft.com/office/officeart/2005/8/layout/bProcess4" loCatId="process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08581577-F535-48D6-A485-6D001DBED152}">
      <dgm:prSet phldrT="[Text]" custT="1"/>
      <dgm:spPr/>
      <dgm:t>
        <a:bodyPr/>
        <a:lstStyle/>
        <a:p>
          <a:r>
            <a:rPr lang="en-IN" sz="1600" b="1" u="sng" dirty="0"/>
            <a:t>Adaptive ML models </a:t>
          </a:r>
          <a:br>
            <a:rPr lang="en-IN" sz="1600" dirty="0"/>
          </a:br>
          <a:r>
            <a:rPr lang="en-IN" sz="1600" i="1" dirty="0"/>
            <a:t>self-correcting systems that identify and resist manipulations </a:t>
          </a:r>
          <a:endParaRPr lang="en-IN" sz="1600" dirty="0"/>
        </a:p>
      </dgm:t>
    </dgm:pt>
    <dgm:pt modelId="{722EC73D-D72A-4208-A1FA-FAA23D1C3A11}" type="parTrans" cxnId="{1C650122-7079-45A7-BE11-C855CFDABAA4}">
      <dgm:prSet/>
      <dgm:spPr/>
      <dgm:t>
        <a:bodyPr/>
        <a:lstStyle/>
        <a:p>
          <a:endParaRPr lang="en-IN"/>
        </a:p>
      </dgm:t>
    </dgm:pt>
    <dgm:pt modelId="{ECCC1AC5-816E-4B09-BA22-4CB4BFE619DC}" type="sibTrans" cxnId="{1C650122-7079-45A7-BE11-C855CFDABAA4}">
      <dgm:prSet/>
      <dgm:spPr/>
      <dgm:t>
        <a:bodyPr/>
        <a:lstStyle/>
        <a:p>
          <a:endParaRPr lang="en-IN"/>
        </a:p>
      </dgm:t>
    </dgm:pt>
    <dgm:pt modelId="{6B13E518-92DA-46C6-8898-D1072284FBCE}">
      <dgm:prSet phldrT="[Text]" custT="1"/>
      <dgm:spPr/>
      <dgm:t>
        <a:bodyPr/>
        <a:lstStyle/>
        <a:p>
          <a:pPr algn="ctr"/>
          <a:r>
            <a:rPr lang="en-IN" sz="1600" b="1" u="sng" dirty="0"/>
            <a:t>Layered Defences</a:t>
          </a:r>
        </a:p>
        <a:p>
          <a:pPr algn="ctr"/>
          <a:r>
            <a:rPr lang="en-IN" sz="1600" b="0" i="1" u="none" dirty="0"/>
            <a:t>Combine adversarial training, verification, data sanitization. </a:t>
          </a:r>
          <a:br>
            <a:rPr lang="en-IN" sz="1600" dirty="0"/>
          </a:br>
          <a:endParaRPr lang="en-IN" sz="1600" dirty="0"/>
        </a:p>
      </dgm:t>
    </dgm:pt>
    <dgm:pt modelId="{20D24381-33C9-403F-A879-0F49E4573261}" type="parTrans" cxnId="{2EBDF949-A95B-49AC-A0F6-8A8CF35ED8A4}">
      <dgm:prSet/>
      <dgm:spPr/>
      <dgm:t>
        <a:bodyPr/>
        <a:lstStyle/>
        <a:p>
          <a:endParaRPr lang="en-IN"/>
        </a:p>
      </dgm:t>
    </dgm:pt>
    <dgm:pt modelId="{0A397200-DC67-4E08-B558-937624DD48EB}" type="sibTrans" cxnId="{2EBDF949-A95B-49AC-A0F6-8A8CF35ED8A4}">
      <dgm:prSet/>
      <dgm:spPr/>
      <dgm:t>
        <a:bodyPr/>
        <a:lstStyle/>
        <a:p>
          <a:endParaRPr lang="en-IN"/>
        </a:p>
      </dgm:t>
    </dgm:pt>
    <dgm:pt modelId="{B8FC4F85-10EF-4AFE-9216-5F9274587EE7}">
      <dgm:prSet phldrT="[Text]" custT="1"/>
      <dgm:spPr/>
      <dgm:t>
        <a:bodyPr/>
        <a:lstStyle/>
        <a:p>
          <a:r>
            <a:rPr lang="en-IN" sz="1600" b="1" u="sng" dirty="0"/>
            <a:t>Risk based ensembles </a:t>
          </a:r>
        </a:p>
        <a:p>
          <a:r>
            <a:rPr lang="en-IN" sz="1600" b="0" i="1" u="none" dirty="0"/>
            <a:t>Route high risk data to isolated models and use ensemble voting for betterment.</a:t>
          </a:r>
        </a:p>
      </dgm:t>
    </dgm:pt>
    <dgm:pt modelId="{64DE222A-1336-4442-8FB9-50C2A45B685B}" type="parTrans" cxnId="{35D046B3-24FB-402D-9855-109B7A593328}">
      <dgm:prSet/>
      <dgm:spPr/>
      <dgm:t>
        <a:bodyPr/>
        <a:lstStyle/>
        <a:p>
          <a:endParaRPr lang="en-IN"/>
        </a:p>
      </dgm:t>
    </dgm:pt>
    <dgm:pt modelId="{91B5CD43-8202-45D4-8AA3-381D74733779}" type="sibTrans" cxnId="{35D046B3-24FB-402D-9855-109B7A593328}">
      <dgm:prSet/>
      <dgm:spPr/>
      <dgm:t>
        <a:bodyPr/>
        <a:lstStyle/>
        <a:p>
          <a:endParaRPr lang="en-IN"/>
        </a:p>
      </dgm:t>
    </dgm:pt>
    <dgm:pt modelId="{BE24B05E-98B3-4CA4-8984-CC1ADC71B204}">
      <dgm:prSet phldrT="[Text]" custT="1"/>
      <dgm:spPr/>
      <dgm:t>
        <a:bodyPr/>
        <a:lstStyle/>
        <a:p>
          <a:r>
            <a:rPr lang="en-IN" sz="1600" b="1" u="sng" dirty="0"/>
            <a:t>Continuous monitoring </a:t>
          </a:r>
        </a:p>
        <a:p>
          <a:r>
            <a:rPr lang="en-IN" sz="1600" b="0" i="1" u="none" dirty="0"/>
            <a:t>Detect and respond to new threats through ongoing evaluation.</a:t>
          </a:r>
          <a:endParaRPr lang="en-IN" sz="1600" dirty="0"/>
        </a:p>
      </dgm:t>
    </dgm:pt>
    <dgm:pt modelId="{4AA25261-107C-452E-8B3E-703F1EE3F6D0}" type="parTrans" cxnId="{554197A6-AA05-4DBA-8FB0-9090C8B3F37F}">
      <dgm:prSet/>
      <dgm:spPr/>
      <dgm:t>
        <a:bodyPr/>
        <a:lstStyle/>
        <a:p>
          <a:endParaRPr lang="en-IN"/>
        </a:p>
      </dgm:t>
    </dgm:pt>
    <dgm:pt modelId="{618F482C-FD01-4F0A-8DC5-33EA60FE3E81}" type="sibTrans" cxnId="{554197A6-AA05-4DBA-8FB0-9090C8B3F37F}">
      <dgm:prSet/>
      <dgm:spPr/>
      <dgm:t>
        <a:bodyPr/>
        <a:lstStyle/>
        <a:p>
          <a:endParaRPr lang="en-IN"/>
        </a:p>
      </dgm:t>
    </dgm:pt>
    <dgm:pt modelId="{80E32EC8-C208-43C7-A9F3-050CDF499B66}">
      <dgm:prSet phldrT="[Text]" custT="1"/>
      <dgm:spPr/>
      <dgm:t>
        <a:bodyPr/>
        <a:lstStyle/>
        <a:p>
          <a:r>
            <a:rPr lang="en-IN" sz="1600" b="1" u="sng" dirty="0"/>
            <a:t>Standardized benchmarks </a:t>
          </a:r>
        </a:p>
        <a:p>
          <a:r>
            <a:rPr lang="en-IN" sz="1600" b="0" i="1" u="none" dirty="0"/>
            <a:t>Create shared taxonomies for attacks and defence evaluation.</a:t>
          </a:r>
        </a:p>
      </dgm:t>
    </dgm:pt>
    <dgm:pt modelId="{CABCCAE9-567B-4DA1-89BB-7B68949423EE}" type="parTrans" cxnId="{DCE089DF-3BD0-4922-B680-28B2B23DDB84}">
      <dgm:prSet/>
      <dgm:spPr/>
      <dgm:t>
        <a:bodyPr/>
        <a:lstStyle/>
        <a:p>
          <a:endParaRPr lang="en-IN"/>
        </a:p>
      </dgm:t>
    </dgm:pt>
    <dgm:pt modelId="{BD10E11B-F1D6-42B6-B092-FDF9E6F17942}" type="sibTrans" cxnId="{DCE089DF-3BD0-4922-B680-28B2B23DDB84}">
      <dgm:prSet/>
      <dgm:spPr/>
      <dgm:t>
        <a:bodyPr/>
        <a:lstStyle/>
        <a:p>
          <a:endParaRPr lang="en-IN"/>
        </a:p>
      </dgm:t>
    </dgm:pt>
    <dgm:pt modelId="{51919E3D-5A64-479B-A4E5-E937F347612E}">
      <dgm:prSet phldrT="[Text]" custT="1"/>
      <dgm:spPr/>
      <dgm:t>
        <a:bodyPr/>
        <a:lstStyle/>
        <a:p>
          <a:r>
            <a:rPr lang="en-IN" sz="1600" b="1" i="1" u="sng" dirty="0"/>
            <a:t>Focus</a:t>
          </a:r>
          <a:r>
            <a:rPr lang="en-IN" sz="1600" b="1" i="1" u="sng" baseline="0" dirty="0"/>
            <a:t> </a:t>
          </a:r>
          <a:r>
            <a:rPr lang="en-IN" sz="1600" b="1" i="0" u="sng" baseline="0" dirty="0"/>
            <a:t>on prevention</a:t>
          </a:r>
        </a:p>
        <a:p>
          <a:r>
            <a:rPr lang="en-IN" sz="1600" b="0" i="1" u="none" baseline="0" dirty="0"/>
            <a:t>Prioritize clean data, secure pipelines and proactive defence.</a:t>
          </a:r>
          <a:r>
            <a:rPr lang="en-IN" sz="1600" b="1" i="0" u="sng" baseline="0" dirty="0"/>
            <a:t> </a:t>
          </a:r>
          <a:endParaRPr lang="en-IN" sz="1600" b="1" i="1" u="sng" dirty="0"/>
        </a:p>
      </dgm:t>
    </dgm:pt>
    <dgm:pt modelId="{2C22D08F-1FCA-4F5F-9FD0-41DABBF7EECD}" type="parTrans" cxnId="{520B766A-7EA8-4415-9D2C-60348B192B87}">
      <dgm:prSet/>
      <dgm:spPr/>
      <dgm:t>
        <a:bodyPr/>
        <a:lstStyle/>
        <a:p>
          <a:endParaRPr lang="en-IN"/>
        </a:p>
      </dgm:t>
    </dgm:pt>
    <dgm:pt modelId="{78EFF37E-0B13-4313-A79A-D91749E08C95}" type="sibTrans" cxnId="{520B766A-7EA8-4415-9D2C-60348B192B87}">
      <dgm:prSet/>
      <dgm:spPr/>
      <dgm:t>
        <a:bodyPr/>
        <a:lstStyle/>
        <a:p>
          <a:endParaRPr lang="en-IN"/>
        </a:p>
      </dgm:t>
    </dgm:pt>
    <dgm:pt modelId="{58AC85B1-D881-4F2E-A713-688412A9FFED}">
      <dgm:prSet phldrT="[Text]" custT="1"/>
      <dgm:spPr/>
      <dgm:t>
        <a:bodyPr/>
        <a:lstStyle/>
        <a:p>
          <a:r>
            <a:rPr lang="en-IN" sz="1600" b="1" u="sng" dirty="0"/>
            <a:t>Cybersecurity integration </a:t>
          </a:r>
        </a:p>
        <a:p>
          <a:r>
            <a:rPr lang="en-IN" sz="1600" b="0" i="1" u="none" dirty="0"/>
            <a:t>Embed adversarial ML practices into existing security systems. </a:t>
          </a:r>
        </a:p>
      </dgm:t>
    </dgm:pt>
    <dgm:pt modelId="{090ECE5E-8BCF-44B2-9E90-38449DD069D9}" type="parTrans" cxnId="{2A75297A-1241-44A4-8E04-3B8CF3B36374}">
      <dgm:prSet/>
      <dgm:spPr/>
      <dgm:t>
        <a:bodyPr/>
        <a:lstStyle/>
        <a:p>
          <a:endParaRPr lang="en-IN"/>
        </a:p>
      </dgm:t>
    </dgm:pt>
    <dgm:pt modelId="{23DA1755-98A7-4A3D-9146-F6BC44C8BDCC}" type="sibTrans" cxnId="{2A75297A-1241-44A4-8E04-3B8CF3B36374}">
      <dgm:prSet/>
      <dgm:spPr/>
      <dgm:t>
        <a:bodyPr/>
        <a:lstStyle/>
        <a:p>
          <a:endParaRPr lang="en-IN"/>
        </a:p>
      </dgm:t>
    </dgm:pt>
    <dgm:pt modelId="{C60DDF54-FEEA-4605-BC83-54BDC39D3CFD}">
      <dgm:prSet phldrT="[Text]" custT="1"/>
      <dgm:spPr/>
      <dgm:t>
        <a:bodyPr/>
        <a:lstStyle/>
        <a:p>
          <a:r>
            <a:rPr lang="en-IN" sz="1600" b="1" u="sng" dirty="0"/>
            <a:t>Collaborative research </a:t>
          </a:r>
        </a:p>
        <a:p>
          <a:r>
            <a:rPr lang="en-IN" sz="1600" b="0" i="1" u="none" dirty="0"/>
            <a:t>Unite researchers to tackle new threats like multi-modal attacks.</a:t>
          </a:r>
        </a:p>
      </dgm:t>
    </dgm:pt>
    <dgm:pt modelId="{97E19C78-7282-4118-A27F-F5F16A3890D8}" type="parTrans" cxnId="{2A93C674-D6A0-44E8-AF85-D52D73256183}">
      <dgm:prSet/>
      <dgm:spPr/>
      <dgm:t>
        <a:bodyPr/>
        <a:lstStyle/>
        <a:p>
          <a:endParaRPr lang="en-IN"/>
        </a:p>
      </dgm:t>
    </dgm:pt>
    <dgm:pt modelId="{B185E053-9803-4399-9442-DC4541997298}" type="sibTrans" cxnId="{2A93C674-D6A0-44E8-AF85-D52D73256183}">
      <dgm:prSet/>
      <dgm:spPr/>
      <dgm:t>
        <a:bodyPr/>
        <a:lstStyle/>
        <a:p>
          <a:endParaRPr lang="en-IN"/>
        </a:p>
      </dgm:t>
    </dgm:pt>
    <dgm:pt modelId="{EC74DA32-B313-4781-912E-B1396E1B8B24}" type="pres">
      <dgm:prSet presAssocID="{93728B32-C8BD-4F9F-87EB-9A060F8AE1F7}" presName="Name0" presStyleCnt="0">
        <dgm:presLayoutVars>
          <dgm:dir/>
          <dgm:resizeHandles/>
        </dgm:presLayoutVars>
      </dgm:prSet>
      <dgm:spPr/>
    </dgm:pt>
    <dgm:pt modelId="{05EA0577-8187-4DE7-8FA7-4008FC0CF9FD}" type="pres">
      <dgm:prSet presAssocID="{08581577-F535-48D6-A485-6D001DBED152}" presName="compNode" presStyleCnt="0"/>
      <dgm:spPr/>
    </dgm:pt>
    <dgm:pt modelId="{5B7E67FB-FE8F-49F8-9249-916263C4B1A9}" type="pres">
      <dgm:prSet presAssocID="{08581577-F535-48D6-A485-6D001DBED152}" presName="dummyConnPt" presStyleCnt="0"/>
      <dgm:spPr/>
    </dgm:pt>
    <dgm:pt modelId="{C08345EC-BD29-46C9-8563-14761F1CF83C}" type="pres">
      <dgm:prSet presAssocID="{08581577-F535-48D6-A485-6D001DBED152}" presName="node" presStyleLbl="node1" presStyleIdx="0" presStyleCnt="8">
        <dgm:presLayoutVars>
          <dgm:bulletEnabled val="1"/>
        </dgm:presLayoutVars>
      </dgm:prSet>
      <dgm:spPr/>
    </dgm:pt>
    <dgm:pt modelId="{2A4795BB-2BF8-4D31-8975-228124995687}" type="pres">
      <dgm:prSet presAssocID="{ECCC1AC5-816E-4B09-BA22-4CB4BFE619DC}" presName="sibTrans" presStyleLbl="bgSibTrans2D1" presStyleIdx="0" presStyleCnt="7"/>
      <dgm:spPr/>
    </dgm:pt>
    <dgm:pt modelId="{9B46DDC5-7495-4D4C-9A95-C27F980E4C42}" type="pres">
      <dgm:prSet presAssocID="{6B13E518-92DA-46C6-8898-D1072284FBCE}" presName="compNode" presStyleCnt="0"/>
      <dgm:spPr/>
    </dgm:pt>
    <dgm:pt modelId="{E0D36D0B-BC27-4B90-9FB0-F5ECE4F41796}" type="pres">
      <dgm:prSet presAssocID="{6B13E518-92DA-46C6-8898-D1072284FBCE}" presName="dummyConnPt" presStyleCnt="0"/>
      <dgm:spPr/>
    </dgm:pt>
    <dgm:pt modelId="{B4CBA812-4D1B-4A25-B67F-649C62BE3AE0}" type="pres">
      <dgm:prSet presAssocID="{6B13E518-92DA-46C6-8898-D1072284FBCE}" presName="node" presStyleLbl="node1" presStyleIdx="1" presStyleCnt="8" custScaleX="102227" custScaleY="121917" custLinFactNeighborX="-1538" custLinFactNeighborY="3179">
        <dgm:presLayoutVars>
          <dgm:bulletEnabled val="1"/>
        </dgm:presLayoutVars>
      </dgm:prSet>
      <dgm:spPr/>
    </dgm:pt>
    <dgm:pt modelId="{FE6BA757-C272-4B17-AA87-19089371B412}" type="pres">
      <dgm:prSet presAssocID="{0A397200-DC67-4E08-B558-937624DD48EB}" presName="sibTrans" presStyleLbl="bgSibTrans2D1" presStyleIdx="1" presStyleCnt="7"/>
      <dgm:spPr/>
    </dgm:pt>
    <dgm:pt modelId="{88239D25-1656-4DFC-9F99-13F7F6700693}" type="pres">
      <dgm:prSet presAssocID="{B8FC4F85-10EF-4AFE-9216-5F9274587EE7}" presName="compNode" presStyleCnt="0"/>
      <dgm:spPr/>
    </dgm:pt>
    <dgm:pt modelId="{68FBA6A4-9037-48A4-88B9-A528A3A0ACBF}" type="pres">
      <dgm:prSet presAssocID="{B8FC4F85-10EF-4AFE-9216-5F9274587EE7}" presName="dummyConnPt" presStyleCnt="0"/>
      <dgm:spPr/>
    </dgm:pt>
    <dgm:pt modelId="{469C075A-34CE-4125-B7DE-7C560BC7B8C6}" type="pres">
      <dgm:prSet presAssocID="{B8FC4F85-10EF-4AFE-9216-5F9274587EE7}" presName="node" presStyleLbl="node1" presStyleIdx="2" presStyleCnt="8" custScaleX="107455" custScaleY="114271" custLinFactNeighborX="-17" custLinFactNeighborY="2574">
        <dgm:presLayoutVars>
          <dgm:bulletEnabled val="1"/>
        </dgm:presLayoutVars>
      </dgm:prSet>
      <dgm:spPr/>
    </dgm:pt>
    <dgm:pt modelId="{35FE3164-83C8-42EE-911C-89C53A9C8B8A}" type="pres">
      <dgm:prSet presAssocID="{91B5CD43-8202-45D4-8AA3-381D74733779}" presName="sibTrans" presStyleLbl="bgSibTrans2D1" presStyleIdx="2" presStyleCnt="7"/>
      <dgm:spPr/>
    </dgm:pt>
    <dgm:pt modelId="{B6C28F5E-B8BE-46CE-B1F0-5D66CC0A04DB}" type="pres">
      <dgm:prSet presAssocID="{BE24B05E-98B3-4CA4-8984-CC1ADC71B204}" presName="compNode" presStyleCnt="0"/>
      <dgm:spPr/>
    </dgm:pt>
    <dgm:pt modelId="{77CEBB88-08CC-430C-874E-933CA13CDE9D}" type="pres">
      <dgm:prSet presAssocID="{BE24B05E-98B3-4CA4-8984-CC1ADC71B204}" presName="dummyConnPt" presStyleCnt="0"/>
      <dgm:spPr/>
    </dgm:pt>
    <dgm:pt modelId="{D92CE2FA-DA90-4206-B217-BC2B3ABB7279}" type="pres">
      <dgm:prSet presAssocID="{BE24B05E-98B3-4CA4-8984-CC1ADC71B204}" presName="node" presStyleLbl="node1" presStyleIdx="3" presStyleCnt="8" custLinFactNeighborX="224" custLinFactNeighborY="-3808">
        <dgm:presLayoutVars>
          <dgm:bulletEnabled val="1"/>
        </dgm:presLayoutVars>
      </dgm:prSet>
      <dgm:spPr/>
    </dgm:pt>
    <dgm:pt modelId="{F5AEB8F4-7100-4AEC-A54B-AABC480C0CD3}" type="pres">
      <dgm:prSet presAssocID="{618F482C-FD01-4F0A-8DC5-33EA60FE3E81}" presName="sibTrans" presStyleLbl="bgSibTrans2D1" presStyleIdx="3" presStyleCnt="7"/>
      <dgm:spPr/>
    </dgm:pt>
    <dgm:pt modelId="{310528B0-CF30-4A59-85B7-7B0154D8142B}" type="pres">
      <dgm:prSet presAssocID="{80E32EC8-C208-43C7-A9F3-050CDF499B66}" presName="compNode" presStyleCnt="0"/>
      <dgm:spPr/>
    </dgm:pt>
    <dgm:pt modelId="{EA333B97-5BEF-42A8-9E27-5B193C982E84}" type="pres">
      <dgm:prSet presAssocID="{80E32EC8-C208-43C7-A9F3-050CDF499B66}" presName="dummyConnPt" presStyleCnt="0"/>
      <dgm:spPr/>
    </dgm:pt>
    <dgm:pt modelId="{AE1D4D69-C84F-4A0C-96CD-31FB2AF4938E}" type="pres">
      <dgm:prSet presAssocID="{80E32EC8-C208-43C7-A9F3-050CDF499B66}" presName="node" presStyleLbl="node1" presStyleIdx="4" presStyleCnt="8" custScaleX="111461" custScaleY="119245" custLinFactNeighborX="-747" custLinFactNeighborY="-2491">
        <dgm:presLayoutVars>
          <dgm:bulletEnabled val="1"/>
        </dgm:presLayoutVars>
      </dgm:prSet>
      <dgm:spPr/>
    </dgm:pt>
    <dgm:pt modelId="{68EA0C5B-421D-4C6F-B5EF-ECCC129BB067}" type="pres">
      <dgm:prSet presAssocID="{BD10E11B-F1D6-42B6-B092-FDF9E6F17942}" presName="sibTrans" presStyleLbl="bgSibTrans2D1" presStyleIdx="4" presStyleCnt="7"/>
      <dgm:spPr/>
    </dgm:pt>
    <dgm:pt modelId="{134020AE-5AAF-4C3F-A3A1-7C476384802B}" type="pres">
      <dgm:prSet presAssocID="{51919E3D-5A64-479B-A4E5-E937F347612E}" presName="compNode" presStyleCnt="0"/>
      <dgm:spPr/>
    </dgm:pt>
    <dgm:pt modelId="{52BD5AA0-E234-4132-B7C5-BA0051D9560B}" type="pres">
      <dgm:prSet presAssocID="{51919E3D-5A64-479B-A4E5-E937F347612E}" presName="dummyConnPt" presStyleCnt="0"/>
      <dgm:spPr/>
    </dgm:pt>
    <dgm:pt modelId="{6B33DC3C-B474-43B9-89F5-5111502AB5EB}" type="pres">
      <dgm:prSet presAssocID="{51919E3D-5A64-479B-A4E5-E937F347612E}" presName="node" presStyleLbl="node1" presStyleIdx="5" presStyleCnt="8" custScaleX="103999" custScaleY="118595" custLinFactNeighborX="-374" custLinFactNeighborY="-5605">
        <dgm:presLayoutVars>
          <dgm:bulletEnabled val="1"/>
        </dgm:presLayoutVars>
      </dgm:prSet>
      <dgm:spPr/>
    </dgm:pt>
    <dgm:pt modelId="{CB9030B8-0B34-4191-90AF-BB0A683B4193}" type="pres">
      <dgm:prSet presAssocID="{78EFF37E-0B13-4313-A79A-D91749E08C95}" presName="sibTrans" presStyleLbl="bgSibTrans2D1" presStyleIdx="5" presStyleCnt="7"/>
      <dgm:spPr/>
    </dgm:pt>
    <dgm:pt modelId="{5AD0935B-F3DE-4D0D-8162-9061132B47AC}" type="pres">
      <dgm:prSet presAssocID="{58AC85B1-D881-4F2E-A713-688412A9FFED}" presName="compNode" presStyleCnt="0"/>
      <dgm:spPr/>
    </dgm:pt>
    <dgm:pt modelId="{184FCB52-5558-4EB6-8D3F-C0FAA66D4130}" type="pres">
      <dgm:prSet presAssocID="{58AC85B1-D881-4F2E-A713-688412A9FFED}" presName="dummyConnPt" presStyleCnt="0"/>
      <dgm:spPr/>
    </dgm:pt>
    <dgm:pt modelId="{95040093-BC7E-4B26-AEAB-69E7947A5CE7}" type="pres">
      <dgm:prSet presAssocID="{58AC85B1-D881-4F2E-A713-688412A9FFED}" presName="node" presStyleLbl="node1" presStyleIdx="6" presStyleCnt="8" custLinFactNeighborY="9342">
        <dgm:presLayoutVars>
          <dgm:bulletEnabled val="1"/>
        </dgm:presLayoutVars>
      </dgm:prSet>
      <dgm:spPr/>
    </dgm:pt>
    <dgm:pt modelId="{C9536D5B-95EB-46BB-93DA-D87024EBDE7C}" type="pres">
      <dgm:prSet presAssocID="{23DA1755-98A7-4A3D-9146-F6BC44C8BDCC}" presName="sibTrans" presStyleLbl="bgSibTrans2D1" presStyleIdx="6" presStyleCnt="7"/>
      <dgm:spPr/>
    </dgm:pt>
    <dgm:pt modelId="{2EABD0A1-7B35-4CD2-AFE0-0612634D88C8}" type="pres">
      <dgm:prSet presAssocID="{C60DDF54-FEEA-4605-BC83-54BDC39D3CFD}" presName="compNode" presStyleCnt="0"/>
      <dgm:spPr/>
    </dgm:pt>
    <dgm:pt modelId="{E7ED2ABA-D299-414E-8C3D-218542A96E48}" type="pres">
      <dgm:prSet presAssocID="{C60DDF54-FEEA-4605-BC83-54BDC39D3CFD}" presName="dummyConnPt" presStyleCnt="0"/>
      <dgm:spPr/>
    </dgm:pt>
    <dgm:pt modelId="{2FEB81F2-719A-4061-B546-CDF642DEA449}" type="pres">
      <dgm:prSet presAssocID="{C60DDF54-FEEA-4605-BC83-54BDC39D3CFD}" presName="node" presStyleLbl="node1" presStyleIdx="7" presStyleCnt="8" custLinFactNeighborY="24701">
        <dgm:presLayoutVars>
          <dgm:bulletEnabled val="1"/>
        </dgm:presLayoutVars>
      </dgm:prSet>
      <dgm:spPr/>
    </dgm:pt>
  </dgm:ptLst>
  <dgm:cxnLst>
    <dgm:cxn modelId="{A309190C-A671-4993-B1FF-C2CB29A5821E}" type="presOf" srcId="{618F482C-FD01-4F0A-8DC5-33EA60FE3E81}" destId="{F5AEB8F4-7100-4AEC-A54B-AABC480C0CD3}" srcOrd="0" destOrd="0" presId="urn:microsoft.com/office/officeart/2005/8/layout/bProcess4"/>
    <dgm:cxn modelId="{96360E20-21DA-45F2-8ABD-EC2435733918}" type="presOf" srcId="{23DA1755-98A7-4A3D-9146-F6BC44C8BDCC}" destId="{C9536D5B-95EB-46BB-93DA-D87024EBDE7C}" srcOrd="0" destOrd="0" presId="urn:microsoft.com/office/officeart/2005/8/layout/bProcess4"/>
    <dgm:cxn modelId="{1C650122-7079-45A7-BE11-C855CFDABAA4}" srcId="{93728B32-C8BD-4F9F-87EB-9A060F8AE1F7}" destId="{08581577-F535-48D6-A485-6D001DBED152}" srcOrd="0" destOrd="0" parTransId="{722EC73D-D72A-4208-A1FA-FAA23D1C3A11}" sibTransId="{ECCC1AC5-816E-4B09-BA22-4CB4BFE619DC}"/>
    <dgm:cxn modelId="{A5984730-4A66-4ADF-80AC-BD1CE7900DC7}" type="presOf" srcId="{B8FC4F85-10EF-4AFE-9216-5F9274587EE7}" destId="{469C075A-34CE-4125-B7DE-7C560BC7B8C6}" srcOrd="0" destOrd="0" presId="urn:microsoft.com/office/officeart/2005/8/layout/bProcess4"/>
    <dgm:cxn modelId="{4DD40E35-E79C-47A4-9CB7-1175816ABE85}" type="presOf" srcId="{BE24B05E-98B3-4CA4-8984-CC1ADC71B204}" destId="{D92CE2FA-DA90-4206-B217-BC2B3ABB7279}" srcOrd="0" destOrd="0" presId="urn:microsoft.com/office/officeart/2005/8/layout/bProcess4"/>
    <dgm:cxn modelId="{96877035-C19D-4A04-BFFA-F9D1C3C296D4}" type="presOf" srcId="{ECCC1AC5-816E-4B09-BA22-4CB4BFE619DC}" destId="{2A4795BB-2BF8-4D31-8975-228124995687}" srcOrd="0" destOrd="0" presId="urn:microsoft.com/office/officeart/2005/8/layout/bProcess4"/>
    <dgm:cxn modelId="{13F4B043-0B9E-4DF7-81C5-4989C3DC8DF6}" type="presOf" srcId="{51919E3D-5A64-479B-A4E5-E937F347612E}" destId="{6B33DC3C-B474-43B9-89F5-5111502AB5EB}" srcOrd="0" destOrd="0" presId="urn:microsoft.com/office/officeart/2005/8/layout/bProcess4"/>
    <dgm:cxn modelId="{2EBDF949-A95B-49AC-A0F6-8A8CF35ED8A4}" srcId="{93728B32-C8BD-4F9F-87EB-9A060F8AE1F7}" destId="{6B13E518-92DA-46C6-8898-D1072284FBCE}" srcOrd="1" destOrd="0" parTransId="{20D24381-33C9-403F-A879-0F49E4573261}" sibTransId="{0A397200-DC67-4E08-B558-937624DD48EB}"/>
    <dgm:cxn modelId="{520B766A-7EA8-4415-9D2C-60348B192B87}" srcId="{93728B32-C8BD-4F9F-87EB-9A060F8AE1F7}" destId="{51919E3D-5A64-479B-A4E5-E937F347612E}" srcOrd="5" destOrd="0" parTransId="{2C22D08F-1FCA-4F5F-9FD0-41DABBF7EECD}" sibTransId="{78EFF37E-0B13-4313-A79A-D91749E08C95}"/>
    <dgm:cxn modelId="{2A93C674-D6A0-44E8-AF85-D52D73256183}" srcId="{93728B32-C8BD-4F9F-87EB-9A060F8AE1F7}" destId="{C60DDF54-FEEA-4605-BC83-54BDC39D3CFD}" srcOrd="7" destOrd="0" parTransId="{97E19C78-7282-4118-A27F-F5F16A3890D8}" sibTransId="{B185E053-9803-4399-9442-DC4541997298}"/>
    <dgm:cxn modelId="{908EEF59-993C-4FEA-A581-F686AB3C4E7B}" type="presOf" srcId="{93728B32-C8BD-4F9F-87EB-9A060F8AE1F7}" destId="{EC74DA32-B313-4781-912E-B1396E1B8B24}" srcOrd="0" destOrd="0" presId="urn:microsoft.com/office/officeart/2005/8/layout/bProcess4"/>
    <dgm:cxn modelId="{964D187A-DD0F-4977-ABCE-EFF9AFEF6608}" type="presOf" srcId="{78EFF37E-0B13-4313-A79A-D91749E08C95}" destId="{CB9030B8-0B34-4191-90AF-BB0A683B4193}" srcOrd="0" destOrd="0" presId="urn:microsoft.com/office/officeart/2005/8/layout/bProcess4"/>
    <dgm:cxn modelId="{2A75297A-1241-44A4-8E04-3B8CF3B36374}" srcId="{93728B32-C8BD-4F9F-87EB-9A060F8AE1F7}" destId="{58AC85B1-D881-4F2E-A713-688412A9FFED}" srcOrd="6" destOrd="0" parTransId="{090ECE5E-8BCF-44B2-9E90-38449DD069D9}" sibTransId="{23DA1755-98A7-4A3D-9146-F6BC44C8BDCC}"/>
    <dgm:cxn modelId="{75B5557B-C1D6-4E89-BA36-40A3F10DC410}" type="presOf" srcId="{58AC85B1-D881-4F2E-A713-688412A9FFED}" destId="{95040093-BC7E-4B26-AEAB-69E7947A5CE7}" srcOrd="0" destOrd="0" presId="urn:microsoft.com/office/officeart/2005/8/layout/bProcess4"/>
    <dgm:cxn modelId="{4165E288-67F6-4DB5-9AB6-E088A2CBE868}" type="presOf" srcId="{6B13E518-92DA-46C6-8898-D1072284FBCE}" destId="{B4CBA812-4D1B-4A25-B67F-649C62BE3AE0}" srcOrd="0" destOrd="0" presId="urn:microsoft.com/office/officeart/2005/8/layout/bProcess4"/>
    <dgm:cxn modelId="{6CA0D59A-B5CA-4588-9CCE-3811D66479AA}" type="presOf" srcId="{0A397200-DC67-4E08-B558-937624DD48EB}" destId="{FE6BA757-C272-4B17-AA87-19089371B412}" srcOrd="0" destOrd="0" presId="urn:microsoft.com/office/officeart/2005/8/layout/bProcess4"/>
    <dgm:cxn modelId="{F8C96C9C-2876-415B-99D7-876461FC9B88}" type="presOf" srcId="{C60DDF54-FEEA-4605-BC83-54BDC39D3CFD}" destId="{2FEB81F2-719A-4061-B546-CDF642DEA449}" srcOrd="0" destOrd="0" presId="urn:microsoft.com/office/officeart/2005/8/layout/bProcess4"/>
    <dgm:cxn modelId="{BBAC32A0-CACC-4263-ADBA-EAFE8569E478}" type="presOf" srcId="{80E32EC8-C208-43C7-A9F3-050CDF499B66}" destId="{AE1D4D69-C84F-4A0C-96CD-31FB2AF4938E}" srcOrd="0" destOrd="0" presId="urn:microsoft.com/office/officeart/2005/8/layout/bProcess4"/>
    <dgm:cxn modelId="{26603EA0-C822-45C6-818E-A2062E231CCF}" type="presOf" srcId="{BD10E11B-F1D6-42B6-B092-FDF9E6F17942}" destId="{68EA0C5B-421D-4C6F-B5EF-ECCC129BB067}" srcOrd="0" destOrd="0" presId="urn:microsoft.com/office/officeart/2005/8/layout/bProcess4"/>
    <dgm:cxn modelId="{554197A6-AA05-4DBA-8FB0-9090C8B3F37F}" srcId="{93728B32-C8BD-4F9F-87EB-9A060F8AE1F7}" destId="{BE24B05E-98B3-4CA4-8984-CC1ADC71B204}" srcOrd="3" destOrd="0" parTransId="{4AA25261-107C-452E-8B3E-703F1EE3F6D0}" sibTransId="{618F482C-FD01-4F0A-8DC5-33EA60FE3E81}"/>
    <dgm:cxn modelId="{35D046B3-24FB-402D-9855-109B7A593328}" srcId="{93728B32-C8BD-4F9F-87EB-9A060F8AE1F7}" destId="{B8FC4F85-10EF-4AFE-9216-5F9274587EE7}" srcOrd="2" destOrd="0" parTransId="{64DE222A-1336-4442-8FB9-50C2A45B685B}" sibTransId="{91B5CD43-8202-45D4-8AA3-381D74733779}"/>
    <dgm:cxn modelId="{DCEF1DC1-2D6C-421A-A495-B176DC69E15A}" type="presOf" srcId="{91B5CD43-8202-45D4-8AA3-381D74733779}" destId="{35FE3164-83C8-42EE-911C-89C53A9C8B8A}" srcOrd="0" destOrd="0" presId="urn:microsoft.com/office/officeart/2005/8/layout/bProcess4"/>
    <dgm:cxn modelId="{5DACB0C5-9153-4D4A-9FB3-C4F61C556DA6}" type="presOf" srcId="{08581577-F535-48D6-A485-6D001DBED152}" destId="{C08345EC-BD29-46C9-8563-14761F1CF83C}" srcOrd="0" destOrd="0" presId="urn:microsoft.com/office/officeart/2005/8/layout/bProcess4"/>
    <dgm:cxn modelId="{DCE089DF-3BD0-4922-B680-28B2B23DDB84}" srcId="{93728B32-C8BD-4F9F-87EB-9A060F8AE1F7}" destId="{80E32EC8-C208-43C7-A9F3-050CDF499B66}" srcOrd="4" destOrd="0" parTransId="{CABCCAE9-567B-4DA1-89BB-7B68949423EE}" sibTransId="{BD10E11B-F1D6-42B6-B092-FDF9E6F17942}"/>
    <dgm:cxn modelId="{A197FDA0-2F73-4079-AE6B-F0766BC5CB4E}" type="presParOf" srcId="{EC74DA32-B313-4781-912E-B1396E1B8B24}" destId="{05EA0577-8187-4DE7-8FA7-4008FC0CF9FD}" srcOrd="0" destOrd="0" presId="urn:microsoft.com/office/officeart/2005/8/layout/bProcess4"/>
    <dgm:cxn modelId="{98D69363-2DF7-4F26-BF1A-350A52A65B7F}" type="presParOf" srcId="{05EA0577-8187-4DE7-8FA7-4008FC0CF9FD}" destId="{5B7E67FB-FE8F-49F8-9249-916263C4B1A9}" srcOrd="0" destOrd="0" presId="urn:microsoft.com/office/officeart/2005/8/layout/bProcess4"/>
    <dgm:cxn modelId="{BBC76286-2595-4BCD-A08E-4365A0F1680D}" type="presParOf" srcId="{05EA0577-8187-4DE7-8FA7-4008FC0CF9FD}" destId="{C08345EC-BD29-46C9-8563-14761F1CF83C}" srcOrd="1" destOrd="0" presId="urn:microsoft.com/office/officeart/2005/8/layout/bProcess4"/>
    <dgm:cxn modelId="{2E56D7C8-91E5-4F5B-9837-E6C16E74DABC}" type="presParOf" srcId="{EC74DA32-B313-4781-912E-B1396E1B8B24}" destId="{2A4795BB-2BF8-4D31-8975-228124995687}" srcOrd="1" destOrd="0" presId="urn:microsoft.com/office/officeart/2005/8/layout/bProcess4"/>
    <dgm:cxn modelId="{E5F142A5-CC47-460D-8747-7DF46ECA3086}" type="presParOf" srcId="{EC74DA32-B313-4781-912E-B1396E1B8B24}" destId="{9B46DDC5-7495-4D4C-9A95-C27F980E4C42}" srcOrd="2" destOrd="0" presId="urn:microsoft.com/office/officeart/2005/8/layout/bProcess4"/>
    <dgm:cxn modelId="{AB6A4E1C-15F6-4C2F-B2E3-B31C5F5F1BD2}" type="presParOf" srcId="{9B46DDC5-7495-4D4C-9A95-C27F980E4C42}" destId="{E0D36D0B-BC27-4B90-9FB0-F5ECE4F41796}" srcOrd="0" destOrd="0" presId="urn:microsoft.com/office/officeart/2005/8/layout/bProcess4"/>
    <dgm:cxn modelId="{3B195AA4-3C18-4987-BBC2-27AA2435C786}" type="presParOf" srcId="{9B46DDC5-7495-4D4C-9A95-C27F980E4C42}" destId="{B4CBA812-4D1B-4A25-B67F-649C62BE3AE0}" srcOrd="1" destOrd="0" presId="urn:microsoft.com/office/officeart/2005/8/layout/bProcess4"/>
    <dgm:cxn modelId="{F23D321C-9BB3-45F7-8FE2-B1A275C90AD0}" type="presParOf" srcId="{EC74DA32-B313-4781-912E-B1396E1B8B24}" destId="{FE6BA757-C272-4B17-AA87-19089371B412}" srcOrd="3" destOrd="0" presId="urn:microsoft.com/office/officeart/2005/8/layout/bProcess4"/>
    <dgm:cxn modelId="{34A839F2-B689-42A7-B773-766AB072F0B7}" type="presParOf" srcId="{EC74DA32-B313-4781-912E-B1396E1B8B24}" destId="{88239D25-1656-4DFC-9F99-13F7F6700693}" srcOrd="4" destOrd="0" presId="urn:microsoft.com/office/officeart/2005/8/layout/bProcess4"/>
    <dgm:cxn modelId="{3AB71DFC-F90F-4387-88A6-ABE134B5C19A}" type="presParOf" srcId="{88239D25-1656-4DFC-9F99-13F7F6700693}" destId="{68FBA6A4-9037-48A4-88B9-A528A3A0ACBF}" srcOrd="0" destOrd="0" presId="urn:microsoft.com/office/officeart/2005/8/layout/bProcess4"/>
    <dgm:cxn modelId="{87BB0C7A-E374-431D-A471-277B25AC7ECC}" type="presParOf" srcId="{88239D25-1656-4DFC-9F99-13F7F6700693}" destId="{469C075A-34CE-4125-B7DE-7C560BC7B8C6}" srcOrd="1" destOrd="0" presId="urn:microsoft.com/office/officeart/2005/8/layout/bProcess4"/>
    <dgm:cxn modelId="{775BD28F-D042-4A2A-88D3-6FAC4087AE7C}" type="presParOf" srcId="{EC74DA32-B313-4781-912E-B1396E1B8B24}" destId="{35FE3164-83C8-42EE-911C-89C53A9C8B8A}" srcOrd="5" destOrd="0" presId="urn:microsoft.com/office/officeart/2005/8/layout/bProcess4"/>
    <dgm:cxn modelId="{CA53A0D0-C278-4C1B-9E83-D7D3D3319F81}" type="presParOf" srcId="{EC74DA32-B313-4781-912E-B1396E1B8B24}" destId="{B6C28F5E-B8BE-46CE-B1F0-5D66CC0A04DB}" srcOrd="6" destOrd="0" presId="urn:microsoft.com/office/officeart/2005/8/layout/bProcess4"/>
    <dgm:cxn modelId="{4E5E92AE-91AE-4D45-A34C-DA0CD517B19D}" type="presParOf" srcId="{B6C28F5E-B8BE-46CE-B1F0-5D66CC0A04DB}" destId="{77CEBB88-08CC-430C-874E-933CA13CDE9D}" srcOrd="0" destOrd="0" presId="urn:microsoft.com/office/officeart/2005/8/layout/bProcess4"/>
    <dgm:cxn modelId="{827968F8-4A33-41D2-8A58-7504713B46BB}" type="presParOf" srcId="{B6C28F5E-B8BE-46CE-B1F0-5D66CC0A04DB}" destId="{D92CE2FA-DA90-4206-B217-BC2B3ABB7279}" srcOrd="1" destOrd="0" presId="urn:microsoft.com/office/officeart/2005/8/layout/bProcess4"/>
    <dgm:cxn modelId="{7535DD2B-C582-4307-AE81-1884826A2101}" type="presParOf" srcId="{EC74DA32-B313-4781-912E-B1396E1B8B24}" destId="{F5AEB8F4-7100-4AEC-A54B-AABC480C0CD3}" srcOrd="7" destOrd="0" presId="urn:microsoft.com/office/officeart/2005/8/layout/bProcess4"/>
    <dgm:cxn modelId="{34D21B96-B9AB-4C94-90EA-68D509B5E0B5}" type="presParOf" srcId="{EC74DA32-B313-4781-912E-B1396E1B8B24}" destId="{310528B0-CF30-4A59-85B7-7B0154D8142B}" srcOrd="8" destOrd="0" presId="urn:microsoft.com/office/officeart/2005/8/layout/bProcess4"/>
    <dgm:cxn modelId="{CBA12F4D-96FA-4921-B86C-982B6EE9103B}" type="presParOf" srcId="{310528B0-CF30-4A59-85B7-7B0154D8142B}" destId="{EA333B97-5BEF-42A8-9E27-5B193C982E84}" srcOrd="0" destOrd="0" presId="urn:microsoft.com/office/officeart/2005/8/layout/bProcess4"/>
    <dgm:cxn modelId="{30965026-667B-459B-8A45-AC445A38F668}" type="presParOf" srcId="{310528B0-CF30-4A59-85B7-7B0154D8142B}" destId="{AE1D4D69-C84F-4A0C-96CD-31FB2AF4938E}" srcOrd="1" destOrd="0" presId="urn:microsoft.com/office/officeart/2005/8/layout/bProcess4"/>
    <dgm:cxn modelId="{3A4869B9-F2D7-4D71-8242-B5353E055156}" type="presParOf" srcId="{EC74DA32-B313-4781-912E-B1396E1B8B24}" destId="{68EA0C5B-421D-4C6F-B5EF-ECCC129BB067}" srcOrd="9" destOrd="0" presId="urn:microsoft.com/office/officeart/2005/8/layout/bProcess4"/>
    <dgm:cxn modelId="{8DF9E928-1F3A-49F8-944E-ADE0FCE8CAAB}" type="presParOf" srcId="{EC74DA32-B313-4781-912E-B1396E1B8B24}" destId="{134020AE-5AAF-4C3F-A3A1-7C476384802B}" srcOrd="10" destOrd="0" presId="urn:microsoft.com/office/officeart/2005/8/layout/bProcess4"/>
    <dgm:cxn modelId="{9020AB58-A44B-48AB-8395-A1D7BDA189F4}" type="presParOf" srcId="{134020AE-5AAF-4C3F-A3A1-7C476384802B}" destId="{52BD5AA0-E234-4132-B7C5-BA0051D9560B}" srcOrd="0" destOrd="0" presId="urn:microsoft.com/office/officeart/2005/8/layout/bProcess4"/>
    <dgm:cxn modelId="{266ADE90-0D6C-4545-93EE-44D1B0E9EB02}" type="presParOf" srcId="{134020AE-5AAF-4C3F-A3A1-7C476384802B}" destId="{6B33DC3C-B474-43B9-89F5-5111502AB5EB}" srcOrd="1" destOrd="0" presId="urn:microsoft.com/office/officeart/2005/8/layout/bProcess4"/>
    <dgm:cxn modelId="{D39F1CC2-F997-491B-B6E9-41BC58A573BA}" type="presParOf" srcId="{EC74DA32-B313-4781-912E-B1396E1B8B24}" destId="{CB9030B8-0B34-4191-90AF-BB0A683B4193}" srcOrd="11" destOrd="0" presId="urn:microsoft.com/office/officeart/2005/8/layout/bProcess4"/>
    <dgm:cxn modelId="{0615E521-CE76-4D3E-BF9A-58CDE09316E4}" type="presParOf" srcId="{EC74DA32-B313-4781-912E-B1396E1B8B24}" destId="{5AD0935B-F3DE-4D0D-8162-9061132B47AC}" srcOrd="12" destOrd="0" presId="urn:microsoft.com/office/officeart/2005/8/layout/bProcess4"/>
    <dgm:cxn modelId="{054E1E52-721D-421E-B984-2821F3E0AB4E}" type="presParOf" srcId="{5AD0935B-F3DE-4D0D-8162-9061132B47AC}" destId="{184FCB52-5558-4EB6-8D3F-C0FAA66D4130}" srcOrd="0" destOrd="0" presId="urn:microsoft.com/office/officeart/2005/8/layout/bProcess4"/>
    <dgm:cxn modelId="{DFC84E1F-802B-44CA-8176-C78E89E17CEA}" type="presParOf" srcId="{5AD0935B-F3DE-4D0D-8162-9061132B47AC}" destId="{95040093-BC7E-4B26-AEAB-69E7947A5CE7}" srcOrd="1" destOrd="0" presId="urn:microsoft.com/office/officeart/2005/8/layout/bProcess4"/>
    <dgm:cxn modelId="{12AB7E86-1088-4A06-ADFB-3F73682FA3C2}" type="presParOf" srcId="{EC74DA32-B313-4781-912E-B1396E1B8B24}" destId="{C9536D5B-95EB-46BB-93DA-D87024EBDE7C}" srcOrd="13" destOrd="0" presId="urn:microsoft.com/office/officeart/2005/8/layout/bProcess4"/>
    <dgm:cxn modelId="{12CAA323-FE9C-484D-8F3A-D2747C49656A}" type="presParOf" srcId="{EC74DA32-B313-4781-912E-B1396E1B8B24}" destId="{2EABD0A1-7B35-4CD2-AFE0-0612634D88C8}" srcOrd="14" destOrd="0" presId="urn:microsoft.com/office/officeart/2005/8/layout/bProcess4"/>
    <dgm:cxn modelId="{1B10B7E5-5AD9-47E3-9E0F-A441FB5771BD}" type="presParOf" srcId="{2EABD0A1-7B35-4CD2-AFE0-0612634D88C8}" destId="{E7ED2ABA-D299-414E-8C3D-218542A96E48}" srcOrd="0" destOrd="0" presId="urn:microsoft.com/office/officeart/2005/8/layout/bProcess4"/>
    <dgm:cxn modelId="{485E35B3-C759-4283-8AAB-36687D8D6B54}" type="presParOf" srcId="{2EABD0A1-7B35-4CD2-AFE0-0612634D88C8}" destId="{2FEB81F2-719A-4061-B546-CDF642DEA449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4795BB-2BF8-4D31-8975-228124995687}">
      <dsp:nvSpPr>
        <dsp:cNvPr id="0" name=""/>
        <dsp:cNvSpPr/>
      </dsp:nvSpPr>
      <dsp:spPr>
        <a:xfrm rot="5463614">
          <a:off x="431844" y="1221967"/>
          <a:ext cx="1918815" cy="20776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8345EC-BD29-46C9-8563-14761F1CF83C}">
      <dsp:nvSpPr>
        <dsp:cNvPr id="0" name=""/>
        <dsp:cNvSpPr/>
      </dsp:nvSpPr>
      <dsp:spPr>
        <a:xfrm>
          <a:off x="943385" y="24034"/>
          <a:ext cx="2308491" cy="13850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sng" kern="1200" dirty="0"/>
            <a:t>Adaptive ML models </a:t>
          </a:r>
          <a:br>
            <a:rPr lang="en-IN" sz="1600" kern="1200" dirty="0"/>
          </a:br>
          <a:r>
            <a:rPr lang="en-IN" sz="1600" i="1" kern="1200" dirty="0"/>
            <a:t>self-correcting systems that identify and resist manipulations </a:t>
          </a:r>
          <a:endParaRPr lang="en-IN" sz="1600" kern="1200" dirty="0"/>
        </a:p>
      </dsp:txBody>
      <dsp:txXfrm>
        <a:off x="983953" y="64602"/>
        <a:ext cx="2227355" cy="1303958"/>
      </dsp:txXfrm>
    </dsp:sp>
    <dsp:sp modelId="{FE6BA757-C272-4B17-AA87-19089371B412}">
      <dsp:nvSpPr>
        <dsp:cNvPr id="0" name=""/>
        <dsp:cNvSpPr/>
      </dsp:nvSpPr>
      <dsp:spPr>
        <a:xfrm rot="5337460">
          <a:off x="425971" y="3155693"/>
          <a:ext cx="1930169" cy="207764"/>
        </a:xfrm>
        <a:prstGeom prst="rect">
          <a:avLst/>
        </a:prstGeom>
        <a:solidFill>
          <a:schemeClr val="accent4">
            <a:hueOff val="1099990"/>
            <a:satOff val="-4867"/>
            <a:lumOff val="-81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CBA812-4D1B-4A25-B67F-649C62BE3AE0}">
      <dsp:nvSpPr>
        <dsp:cNvPr id="0" name=""/>
        <dsp:cNvSpPr/>
      </dsp:nvSpPr>
      <dsp:spPr>
        <a:xfrm>
          <a:off x="882176" y="1799435"/>
          <a:ext cx="2359901" cy="1688665"/>
        </a:xfrm>
        <a:prstGeom prst="roundRect">
          <a:avLst>
            <a:gd name="adj" fmla="val 10000"/>
          </a:avLst>
        </a:prstGeom>
        <a:solidFill>
          <a:schemeClr val="accent4">
            <a:hueOff val="942848"/>
            <a:satOff val="-4172"/>
            <a:lumOff val="-70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sng" kern="1200" dirty="0"/>
            <a:t>Layered Defences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1" u="none" kern="1200" dirty="0"/>
            <a:t>Combine adversarial training, verification, data sanitization. </a:t>
          </a:r>
          <a:br>
            <a:rPr lang="en-IN" sz="1600" kern="1200" dirty="0"/>
          </a:br>
          <a:endParaRPr lang="en-IN" sz="1600" kern="1200" dirty="0"/>
        </a:p>
      </dsp:txBody>
      <dsp:txXfrm>
        <a:off x="931635" y="1848894"/>
        <a:ext cx="2260983" cy="1589747"/>
      </dsp:txXfrm>
    </dsp:sp>
    <dsp:sp modelId="{35FE3164-83C8-42EE-911C-89C53A9C8B8A}">
      <dsp:nvSpPr>
        <dsp:cNvPr id="0" name=""/>
        <dsp:cNvSpPr/>
      </dsp:nvSpPr>
      <dsp:spPr>
        <a:xfrm rot="42268">
          <a:off x="1408487" y="4149805"/>
          <a:ext cx="3290522" cy="207764"/>
        </a:xfrm>
        <a:prstGeom prst="rect">
          <a:avLst/>
        </a:prstGeom>
        <a:solidFill>
          <a:schemeClr val="accent4">
            <a:hueOff val="2199979"/>
            <a:satOff val="-9734"/>
            <a:lumOff val="-163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9C075A-34CE-4125-B7DE-7C560BC7B8C6}">
      <dsp:nvSpPr>
        <dsp:cNvPr id="0" name=""/>
        <dsp:cNvSpPr/>
      </dsp:nvSpPr>
      <dsp:spPr>
        <a:xfrm>
          <a:off x="856944" y="3791495"/>
          <a:ext cx="2480589" cy="1582761"/>
        </a:xfrm>
        <a:prstGeom prst="roundRect">
          <a:avLst>
            <a:gd name="adj" fmla="val 10000"/>
          </a:avLst>
        </a:prstGeom>
        <a:solidFill>
          <a:schemeClr val="accent4">
            <a:hueOff val="1885696"/>
            <a:satOff val="-8343"/>
            <a:lumOff val="-140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sng" kern="1200" dirty="0"/>
            <a:t>Risk based ensembles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1" u="none" kern="1200" dirty="0"/>
            <a:t>Route high risk data to isolated models and use ensemble voting for betterment.</a:t>
          </a:r>
        </a:p>
      </dsp:txBody>
      <dsp:txXfrm>
        <a:off x="903301" y="3837852"/>
        <a:ext cx="2387875" cy="1490047"/>
      </dsp:txXfrm>
    </dsp:sp>
    <dsp:sp modelId="{F5AEB8F4-7100-4AEC-A54B-AABC480C0CD3}">
      <dsp:nvSpPr>
        <dsp:cNvPr id="0" name=""/>
        <dsp:cNvSpPr/>
      </dsp:nvSpPr>
      <dsp:spPr>
        <a:xfrm rot="16158073">
          <a:off x="3772622" y="3247207"/>
          <a:ext cx="1837949" cy="207764"/>
        </a:xfrm>
        <a:prstGeom prst="rect">
          <a:avLst/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2CE2FA-DA90-4206-B217-BC2B3ABB7279}">
      <dsp:nvSpPr>
        <dsp:cNvPr id="0" name=""/>
        <dsp:cNvSpPr/>
      </dsp:nvSpPr>
      <dsp:spPr>
        <a:xfrm>
          <a:off x="4237187" y="3935265"/>
          <a:ext cx="2308491" cy="1385094"/>
        </a:xfrm>
        <a:prstGeom prst="roundRect">
          <a:avLst>
            <a:gd name="adj" fmla="val 10000"/>
          </a:avLst>
        </a:prstGeom>
        <a:solidFill>
          <a:schemeClr val="accent4">
            <a:hueOff val="2828544"/>
            <a:satOff val="-12515"/>
            <a:lumOff val="-210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sng" kern="1200" dirty="0"/>
            <a:t>Continuous monitoring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1" u="none" kern="1200" dirty="0"/>
            <a:t>Detect and respond to new threats through ongoing evaluation.</a:t>
          </a:r>
          <a:endParaRPr lang="en-IN" sz="1600" kern="1200" dirty="0"/>
        </a:p>
      </dsp:txBody>
      <dsp:txXfrm>
        <a:off x="4277755" y="3975833"/>
        <a:ext cx="2227355" cy="1303958"/>
      </dsp:txXfrm>
    </dsp:sp>
    <dsp:sp modelId="{68EA0C5B-421D-4C6F-B5EF-ECCC129BB067}">
      <dsp:nvSpPr>
        <dsp:cNvPr id="0" name=""/>
        <dsp:cNvSpPr/>
      </dsp:nvSpPr>
      <dsp:spPr>
        <a:xfrm rot="16215174">
          <a:off x="3709308" y="1343574"/>
          <a:ext cx="1950774" cy="207764"/>
        </a:xfrm>
        <a:prstGeom prst="rect">
          <a:avLst/>
        </a:prstGeom>
        <a:solidFill>
          <a:schemeClr val="accent4">
            <a:hueOff val="4399958"/>
            <a:satOff val="-19468"/>
            <a:lumOff val="-3269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D4D69-C84F-4A0C-96CD-31FB2AF4938E}">
      <dsp:nvSpPr>
        <dsp:cNvPr id="0" name=""/>
        <dsp:cNvSpPr/>
      </dsp:nvSpPr>
      <dsp:spPr>
        <a:xfrm>
          <a:off x="4082483" y="1955576"/>
          <a:ext cx="2573067" cy="1651656"/>
        </a:xfrm>
        <a:prstGeom prst="roundRect">
          <a:avLst>
            <a:gd name="adj" fmla="val 10000"/>
          </a:avLst>
        </a:prstGeom>
        <a:solidFill>
          <a:schemeClr val="accent4">
            <a:hueOff val="3771393"/>
            <a:satOff val="-16687"/>
            <a:lumOff val="-280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sng" kern="1200" dirty="0"/>
            <a:t>Standardized benchmarks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1" u="none" kern="1200" dirty="0"/>
            <a:t>Create shared taxonomies for attacks and defence evaluation.</a:t>
          </a:r>
        </a:p>
      </dsp:txBody>
      <dsp:txXfrm>
        <a:off x="4130858" y="2003951"/>
        <a:ext cx="2476317" cy="1554906"/>
      </dsp:txXfrm>
    </dsp:sp>
    <dsp:sp modelId="{CB9030B8-0B34-4191-90AF-BB0A683B4193}">
      <dsp:nvSpPr>
        <dsp:cNvPr id="0" name=""/>
        <dsp:cNvSpPr/>
      </dsp:nvSpPr>
      <dsp:spPr>
        <a:xfrm rot="1899">
          <a:off x="4693077" y="364432"/>
          <a:ext cx="3203219" cy="207764"/>
        </a:xfrm>
        <a:prstGeom prst="rect">
          <a:avLst/>
        </a:prstGeom>
        <a:solidFill>
          <a:schemeClr val="accent4">
            <a:hueOff val="5499947"/>
            <a:satOff val="-24335"/>
            <a:lumOff val="-408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33DC3C-B474-43B9-89F5-5111502AB5EB}">
      <dsp:nvSpPr>
        <dsp:cNvPr id="0" name=""/>
        <dsp:cNvSpPr/>
      </dsp:nvSpPr>
      <dsp:spPr>
        <a:xfrm>
          <a:off x="4177224" y="0"/>
          <a:ext cx="2400807" cy="1642653"/>
        </a:xfrm>
        <a:prstGeom prst="roundRect">
          <a:avLst>
            <a:gd name="adj" fmla="val 10000"/>
          </a:avLst>
        </a:prstGeom>
        <a:solidFill>
          <a:schemeClr val="accent4">
            <a:hueOff val="4714241"/>
            <a:satOff val="-20859"/>
            <a:lumOff val="-350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i="1" u="sng" kern="1200" dirty="0"/>
            <a:t>Focus</a:t>
          </a:r>
          <a:r>
            <a:rPr lang="en-IN" sz="1600" b="1" i="1" u="sng" kern="1200" baseline="0" dirty="0"/>
            <a:t> </a:t>
          </a:r>
          <a:r>
            <a:rPr lang="en-IN" sz="1600" b="1" i="0" u="sng" kern="1200" baseline="0" dirty="0"/>
            <a:t>on prevention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1" u="none" kern="1200" baseline="0" dirty="0"/>
            <a:t>Prioritize clean data, secure pipelines and proactive defence.</a:t>
          </a:r>
          <a:r>
            <a:rPr lang="en-IN" sz="1600" b="1" i="0" u="sng" kern="1200" baseline="0" dirty="0"/>
            <a:t> </a:t>
          </a:r>
          <a:endParaRPr lang="en-IN" sz="1600" b="1" i="1" u="sng" kern="1200" dirty="0"/>
        </a:p>
      </dsp:txBody>
      <dsp:txXfrm>
        <a:off x="4225336" y="48112"/>
        <a:ext cx="2304583" cy="1546429"/>
      </dsp:txXfrm>
    </dsp:sp>
    <dsp:sp modelId="{C9536D5B-95EB-46BB-93DA-D87024EBDE7C}">
      <dsp:nvSpPr>
        <dsp:cNvPr id="0" name=""/>
        <dsp:cNvSpPr/>
      </dsp:nvSpPr>
      <dsp:spPr>
        <a:xfrm rot="5400000">
          <a:off x="6932083" y="1337369"/>
          <a:ext cx="1936265" cy="207764"/>
        </a:xfrm>
        <a:prstGeom prst="rec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040093-BC7E-4B26-AEAB-69E7947A5CE7}">
      <dsp:nvSpPr>
        <dsp:cNvPr id="0" name=""/>
        <dsp:cNvSpPr/>
      </dsp:nvSpPr>
      <dsp:spPr>
        <a:xfrm>
          <a:off x="7434597" y="130548"/>
          <a:ext cx="2308491" cy="1385094"/>
        </a:xfrm>
        <a:prstGeom prst="roundRect">
          <a:avLst>
            <a:gd name="adj" fmla="val 10000"/>
          </a:avLst>
        </a:prstGeom>
        <a:solidFill>
          <a:schemeClr val="accent4">
            <a:hueOff val="5657089"/>
            <a:satOff val="-25030"/>
            <a:lumOff val="-420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sng" kern="1200" dirty="0"/>
            <a:t>Cybersecurity integration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1" u="none" kern="1200" dirty="0"/>
            <a:t>Embed adversarial ML practices into existing security systems. </a:t>
          </a:r>
        </a:p>
      </dsp:txBody>
      <dsp:txXfrm>
        <a:off x="7475165" y="171116"/>
        <a:ext cx="2227355" cy="1303958"/>
      </dsp:txXfrm>
    </dsp:sp>
    <dsp:sp modelId="{2FEB81F2-719A-4061-B546-CDF642DEA449}">
      <dsp:nvSpPr>
        <dsp:cNvPr id="0" name=""/>
        <dsp:cNvSpPr/>
      </dsp:nvSpPr>
      <dsp:spPr>
        <a:xfrm>
          <a:off x="7434597" y="2074653"/>
          <a:ext cx="2308491" cy="1385094"/>
        </a:xfrm>
        <a:prstGeom prst="roundRect">
          <a:avLst>
            <a:gd name="adj" fmla="val 1000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sng" kern="1200" dirty="0"/>
            <a:t>Collaborative research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1" u="none" kern="1200" dirty="0"/>
            <a:t>Unite researchers to tackle new threats like multi-modal attacks.</a:t>
          </a:r>
        </a:p>
      </dsp:txBody>
      <dsp:txXfrm>
        <a:off x="7475165" y="2115221"/>
        <a:ext cx="2227355" cy="1303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542" y="2301948"/>
            <a:ext cx="9265920" cy="18385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Bahnschrift SemiBold Condensed" panose="020B0502040204020203" pitchFamily="34" charset="0"/>
              </a:rPr>
              <a:t>Adversarial Attacks and Data Poisoning in Machine Learning</a:t>
            </a:r>
            <a:endParaRPr lang="en-IN" sz="40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AARNA GUPTA </a:t>
            </a:r>
          </a:p>
          <a:p>
            <a:r>
              <a:rPr lang="en-IN" dirty="0"/>
              <a:t>2427030695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NEHA JANU </a:t>
            </a:r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688" y="2141537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  <p:pic>
        <p:nvPicPr>
          <p:cNvPr id="5" name="Graphic 4" descr="Artificial Intelligence outline">
            <a:extLst>
              <a:ext uri="{FF2B5EF4-FFF2-40B4-BE49-F238E27FC236}">
                <a16:creationId xmlns:a16="http://schemas.microsoft.com/office/drawing/2014/main" id="{F39DC0B7-1BDF-A5D7-397A-7E1FB0340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7172" y="2618994"/>
            <a:ext cx="1620012" cy="1620012"/>
          </a:xfrm>
          <a:prstGeom prst="rect">
            <a:avLst/>
          </a:prstGeom>
        </p:spPr>
      </p:pic>
      <p:pic>
        <p:nvPicPr>
          <p:cNvPr id="7" name="Graphic 6" descr="Ethernet outline">
            <a:extLst>
              <a:ext uri="{FF2B5EF4-FFF2-40B4-BE49-F238E27FC236}">
                <a16:creationId xmlns:a16="http://schemas.microsoft.com/office/drawing/2014/main" id="{16027B0C-4E19-3AAD-6448-464E48BDE1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6640" y="3605505"/>
            <a:ext cx="1782432" cy="1782432"/>
          </a:xfrm>
          <a:prstGeom prst="rect">
            <a:avLst/>
          </a:prstGeom>
        </p:spPr>
      </p:pic>
      <p:pic>
        <p:nvPicPr>
          <p:cNvPr id="9" name="Graphic 8" descr="Programmer male outline">
            <a:extLst>
              <a:ext uri="{FF2B5EF4-FFF2-40B4-BE49-F238E27FC236}">
                <a16:creationId xmlns:a16="http://schemas.microsoft.com/office/drawing/2014/main" id="{DAB4BBAA-A39A-E73A-3C5B-3D1D205D6B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3916" y="1158431"/>
            <a:ext cx="1955927" cy="195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807"/>
            <a:ext cx="10838688" cy="428415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i="1" dirty="0">
                <a:latin typeface="Amasis MT Pro Medium" panose="020F0502020204030204" pitchFamily="18" charset="0"/>
                <a:cs typeface="Aharoni" panose="020F0502020204030204" pitchFamily="2" charset="-79"/>
              </a:rPr>
              <a:t>Adversarial Attacks  </a:t>
            </a:r>
            <a:r>
              <a:rPr lang="en-US" dirty="0">
                <a:latin typeface="Amasis MT Pro Medium" panose="020F0502020204030204" pitchFamily="18" charset="0"/>
                <a:cs typeface="Aharoni" panose="020F0502020204030204" pitchFamily="2" charset="-79"/>
              </a:rPr>
              <a:t>are</a:t>
            </a:r>
            <a:r>
              <a:rPr lang="en-US" i="1" dirty="0">
                <a:latin typeface="Amasis MT Pro Medium" panose="020F0502020204030204" pitchFamily="18" charset="0"/>
                <a:cs typeface="Aharoni" panose="020F0502020204030204" pitchFamily="2" charset="-79"/>
              </a:rPr>
              <a:t> </a:t>
            </a:r>
            <a:r>
              <a:rPr lang="en-US" dirty="0">
                <a:latin typeface="Amasis MT Pro Medium" panose="020F0502020204030204" pitchFamily="18" charset="0"/>
                <a:cs typeface="Aharoni" panose="020F0502020204030204" pitchFamily="2" charset="-79"/>
              </a:rPr>
              <a:t>Subtle manipulations of input data that mislead AI models into making wrong predictions.</a:t>
            </a:r>
          </a:p>
          <a:p>
            <a:pPr marL="0" indent="0" algn="just">
              <a:buNone/>
            </a:pPr>
            <a:r>
              <a:rPr lang="en-US" i="1" dirty="0">
                <a:latin typeface="Amasis MT Pro Medium" panose="020F0502020204030204" pitchFamily="18" charset="0"/>
                <a:cs typeface="Aharoni" panose="020F0502020204030204" pitchFamily="2" charset="-79"/>
              </a:rPr>
              <a:t>Data Poisoning </a:t>
            </a:r>
            <a:r>
              <a:rPr lang="en-US" dirty="0">
                <a:latin typeface="Amasis MT Pro Medium" panose="020F0502020204030204" pitchFamily="18" charset="0"/>
                <a:cs typeface="Aharoni" panose="020F0502020204030204" pitchFamily="2" charset="-79"/>
              </a:rPr>
              <a:t>refers to inserting malicious or misleading samples into the training dataset to degrade model performance.</a:t>
            </a:r>
          </a:p>
          <a:p>
            <a:pPr algn="just">
              <a:buFont typeface="Wingdings" panose="05000000000000000000" pitchFamily="2" charset="2"/>
              <a:buChar char="è"/>
            </a:pPr>
            <a:r>
              <a:rPr lang="en-US" dirty="0">
                <a:latin typeface="Amasis MT Pro Medium" panose="020F0502020204030204" pitchFamily="18" charset="0"/>
                <a:cs typeface="Aharoni" panose="020F0502020204030204" pitchFamily="2" charset="-79"/>
              </a:rPr>
              <a:t>Threatens critical applications like facial recognition, autonomous driving, and malware detection. </a:t>
            </a:r>
          </a:p>
          <a:p>
            <a:pPr algn="just">
              <a:buFont typeface="Wingdings" panose="05000000000000000000" pitchFamily="2" charset="2"/>
              <a:buChar char="è"/>
            </a:pPr>
            <a:r>
              <a:rPr lang="en-US" dirty="0">
                <a:latin typeface="Amasis MT Pro Medium" panose="020F0502020204030204" pitchFamily="18" charset="0"/>
                <a:cs typeface="Aharoni" panose="020F0502020204030204" pitchFamily="2" charset="-79"/>
              </a:rPr>
              <a:t>Exposes vulnerabilities in AI systems due to their statistical and data-driven nature. </a:t>
            </a:r>
          </a:p>
          <a:p>
            <a:pPr algn="just">
              <a:buFont typeface="Wingdings" panose="05000000000000000000" pitchFamily="2" charset="2"/>
              <a:buChar char="è"/>
            </a:pPr>
            <a:r>
              <a:rPr lang="en-US" dirty="0">
                <a:latin typeface="Amasis MT Pro Medium" panose="020F0502020204030204" pitchFamily="18" charset="0"/>
                <a:cs typeface="Aharoni" panose="020F0502020204030204" pitchFamily="2" charset="-79"/>
              </a:rPr>
              <a:t>Highlights the need for robust and resilient AI models that can detect and resist such manipulations.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E459-0BEF-EB25-6403-669A9F89C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0A09F-1E23-75A4-FC65-AE948741A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7EA8F-F35B-A46B-7D3A-DCA2CFAC9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807"/>
            <a:ext cx="10838688" cy="4284155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Amasis MT Pro Medium" panose="02040604050005020304" pitchFamily="18" charset="0"/>
              </a:rPr>
              <a:t>AI and ML systems are now embedded in critical domains — from healthcare and finance to self-driving vehicles and cybersecurity. Even minor manipulations in input data can cause major errors in prediction or decision-making. Attackers exploit the data-driven nature of AI to cause system failures or gain unauthorized access.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Amasis MT Pro Medium" panose="02040604050005020304" pitchFamily="18" charset="0"/>
              </a:rPr>
              <a:t> Examples: Slightly modified traffic signs misleading autonomous cars. Poisoned datasets making malware detectors ignore new threats. </a:t>
            </a:r>
          </a:p>
        </p:txBody>
      </p:sp>
    </p:spTree>
    <p:extLst>
      <p:ext uri="{BB962C8B-B14F-4D97-AF65-F5344CB8AC3E}">
        <p14:creationId xmlns:p14="http://schemas.microsoft.com/office/powerpoint/2010/main" val="3852393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57" y="-143834"/>
            <a:ext cx="10515600" cy="1325563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EFE96B5-FEFD-B5C4-176D-3CA5F64101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898307"/>
              </p:ext>
            </p:extLst>
          </p:nvPr>
        </p:nvGraphicFramePr>
        <p:xfrm>
          <a:off x="766314" y="816577"/>
          <a:ext cx="10896599" cy="588614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51989">
                  <a:extLst>
                    <a:ext uri="{9D8B030D-6E8A-4147-A177-3AD203B41FA5}">
                      <a16:colId xmlns:a16="http://schemas.microsoft.com/office/drawing/2014/main" val="1569386605"/>
                    </a:ext>
                  </a:extLst>
                </a:gridCol>
                <a:gridCol w="2714870">
                  <a:extLst>
                    <a:ext uri="{9D8B030D-6E8A-4147-A177-3AD203B41FA5}">
                      <a16:colId xmlns:a16="http://schemas.microsoft.com/office/drawing/2014/main" val="2958044032"/>
                    </a:ext>
                  </a:extLst>
                </a:gridCol>
                <a:gridCol w="2714870">
                  <a:extLst>
                    <a:ext uri="{9D8B030D-6E8A-4147-A177-3AD203B41FA5}">
                      <a16:colId xmlns:a16="http://schemas.microsoft.com/office/drawing/2014/main" val="330956852"/>
                    </a:ext>
                  </a:extLst>
                </a:gridCol>
                <a:gridCol w="2714870">
                  <a:extLst>
                    <a:ext uri="{9D8B030D-6E8A-4147-A177-3AD203B41FA5}">
                      <a16:colId xmlns:a16="http://schemas.microsoft.com/office/drawing/2014/main" val="1099883107"/>
                    </a:ext>
                  </a:extLst>
                </a:gridCol>
              </a:tblGrid>
              <a:tr h="6867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Author &amp; Year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Methods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Focus Area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Limitations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224644"/>
                  </a:ext>
                </a:extLst>
              </a:tr>
              <a:tr h="1569639">
                <a:tc>
                  <a:txBody>
                    <a:bodyPr/>
                    <a:lstStyle/>
                    <a:p>
                      <a:r>
                        <a:rPr lang="da-DK" dirty="0"/>
                        <a:t>Vassilev, Oprea, Fordyce, Anderson, Davies, Hamin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Comprehensive taxonomy; attack classification (stage, goals, knowledge); mitigations: adversarial training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Taxonomy of adversarial ML attacks &amp; defenses.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Conceptual; empirical defenses; lacks formal benchmarks; evolving threats.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688810"/>
                  </a:ext>
                </a:extLst>
              </a:tr>
              <a:tr h="1962049">
                <a:tc>
                  <a:txBody>
                    <a:bodyPr/>
                    <a:lstStyle/>
                    <a:p>
                      <a:r>
                        <a:rPr lang="it-IT" dirty="0"/>
                        <a:t>Bena, Anisetti, Damiani, Yeun, Ardagna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Risk-based ensemble: assigns poisoning risk using indicators of poisoning </a:t>
                      </a:r>
                      <a:r>
                        <a:rPr lang="en-IN" sz="1600" dirty="0" err="1"/>
                        <a:t>IoPs</a:t>
                      </a:r>
                      <a:r>
                        <a:rPr lang="en-IN" sz="1600" dirty="0"/>
                        <a:t> (SVM, </a:t>
                      </a:r>
                      <a:r>
                        <a:rPr lang="en-IN" sz="1600" dirty="0" err="1"/>
                        <a:t>kNN</a:t>
                      </a:r>
                      <a:r>
                        <a:rPr lang="en-IN" sz="1600" dirty="0"/>
                        <a:t>, centroids), routes data via round-robin/sink strategy.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Defending against data poisoning using risk-aware ensembles.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Evaluated on small tabular datasets; limited generalization to deep learning.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271564"/>
                  </a:ext>
                </a:extLst>
              </a:tr>
              <a:tr h="1667742">
                <a:tc>
                  <a:txBody>
                    <a:bodyPr/>
                    <a:lstStyle/>
                    <a:p>
                      <a:r>
                        <a:rPr lang="en-IN" dirty="0" err="1"/>
                        <a:t>Pawlicki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Pawlicka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Kozik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Choraś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Meta-survey (systematic review) of papers; categorization of deep-learning models and performance metrics; gap analysis.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Survey of adversarial attacks and detection in DL models.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Inconsistent paper selection; missing standard metrics; lacks structure.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06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5B968-A196-0273-B8F6-39A7C3FA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707C-E484-1E45-298D-0CC49F292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257" y="-143834"/>
            <a:ext cx="10515600" cy="1325563"/>
          </a:xfrm>
        </p:spPr>
        <p:txBody>
          <a:bodyPr/>
          <a:lstStyle/>
          <a:p>
            <a:r>
              <a:rPr lang="en-IN" dirty="0"/>
              <a:t>Literature Review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9A64FDF-1BF7-84CB-76E7-A0552713AC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9007808"/>
              </p:ext>
            </p:extLst>
          </p:nvPr>
        </p:nvGraphicFramePr>
        <p:xfrm>
          <a:off x="766314" y="816577"/>
          <a:ext cx="10896599" cy="588614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51989">
                  <a:extLst>
                    <a:ext uri="{9D8B030D-6E8A-4147-A177-3AD203B41FA5}">
                      <a16:colId xmlns:a16="http://schemas.microsoft.com/office/drawing/2014/main" val="1569386605"/>
                    </a:ext>
                  </a:extLst>
                </a:gridCol>
                <a:gridCol w="2714870">
                  <a:extLst>
                    <a:ext uri="{9D8B030D-6E8A-4147-A177-3AD203B41FA5}">
                      <a16:colId xmlns:a16="http://schemas.microsoft.com/office/drawing/2014/main" val="2958044032"/>
                    </a:ext>
                  </a:extLst>
                </a:gridCol>
                <a:gridCol w="2714870">
                  <a:extLst>
                    <a:ext uri="{9D8B030D-6E8A-4147-A177-3AD203B41FA5}">
                      <a16:colId xmlns:a16="http://schemas.microsoft.com/office/drawing/2014/main" val="330956852"/>
                    </a:ext>
                  </a:extLst>
                </a:gridCol>
                <a:gridCol w="2714870">
                  <a:extLst>
                    <a:ext uri="{9D8B030D-6E8A-4147-A177-3AD203B41FA5}">
                      <a16:colId xmlns:a16="http://schemas.microsoft.com/office/drawing/2014/main" val="1099883107"/>
                    </a:ext>
                  </a:extLst>
                </a:gridCol>
              </a:tblGrid>
              <a:tr h="6867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Author &amp; Year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Methods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Focus Area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Limitations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224644"/>
                  </a:ext>
                </a:extLst>
              </a:tr>
              <a:tr h="1569639">
                <a:tc>
                  <a:txBody>
                    <a:bodyPr/>
                    <a:lstStyle/>
                    <a:p>
                      <a:r>
                        <a:rPr lang="en-IN" dirty="0" err="1"/>
                        <a:t>Ndayipfukamiye</a:t>
                      </a:r>
                      <a:r>
                        <a:rPr lang="en-IN" dirty="0"/>
                        <a:t>, Ding, </a:t>
                      </a:r>
                      <a:r>
                        <a:rPr lang="en-IN" dirty="0" err="1"/>
                        <a:t>Sarwatt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Philipo</a:t>
                      </a:r>
                      <a:r>
                        <a:rPr lang="en-IN" dirty="0"/>
                        <a:t>, Ning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PRISMA-based review; GAN taxonomy (defensive function, architecture, threat model).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GAN-based methods for cyber threat detection and mitigation.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GANs costly, unstable, and lack standardized benchmarks.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688810"/>
                  </a:ext>
                </a:extLst>
              </a:tr>
              <a:tr h="1962049">
                <a:tc>
                  <a:txBody>
                    <a:bodyPr/>
                    <a:lstStyle/>
                    <a:p>
                      <a:r>
                        <a:rPr lang="en-IN" dirty="0" err="1"/>
                        <a:t>Lakera</a:t>
                      </a:r>
                      <a:r>
                        <a:rPr lang="en-IN" dirty="0"/>
                        <a:t> Team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Survey of poisoning vectors and supply-chain risks; tools: </a:t>
                      </a:r>
                      <a:r>
                        <a:rPr lang="en-US" dirty="0" err="1"/>
                        <a:t>PoisonBench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MCPTox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Data poisoning in generative AI pipelines.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Poisoning detection &amp; recovery immature; stealthy attacks impactful.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271564"/>
                  </a:ext>
                </a:extLst>
              </a:tr>
              <a:tr h="1667742">
                <a:tc>
                  <a:txBody>
                    <a:bodyPr/>
                    <a:lstStyle/>
                    <a:p>
                      <a:r>
                        <a:rPr lang="en-IN" dirty="0" err="1"/>
                        <a:t>Muthalagu</a:t>
                      </a:r>
                      <a:r>
                        <a:rPr lang="en-IN" dirty="0"/>
                        <a:t>, Malik, Pawar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Adversarial training &amp; abstract interpretation; mixture of attacks for malware detection robustness.</a:t>
                      </a: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Robust ML for malware evasion defense.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Dependent on adversarial sample quality; complex; dataset-sensitive.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06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668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812" y="0"/>
            <a:ext cx="10515600" cy="1325563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743" y="145986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i="1" dirty="0"/>
              <a:t>Vulnerabilities of AI Models to Adversarial Attacks and Data Poisoning</a:t>
            </a:r>
            <a:br>
              <a:rPr lang="en-US" i="1" dirty="0"/>
            </a:br>
            <a:endParaRPr lang="en-US" i="1" dirty="0"/>
          </a:p>
          <a:p>
            <a:pPr marL="0" indent="0" algn="ctr">
              <a:buNone/>
            </a:pPr>
            <a:endParaRPr lang="en-IN" i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2F5B1B9-FB64-C4D8-3051-C1DA1DCEA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657" y="2585569"/>
            <a:ext cx="11194181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Medium" panose="02040604050005020304" pitchFamily="18" charset="0"/>
              </a:rPr>
              <a:t>Machine learning models rely heavily on large and diverse datasets for training.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Medium" panose="02040604050005020304" pitchFamily="18" charset="0"/>
              </a:rPr>
              <a:t>Attackers can manipulate these datasets or model inputs to intentionally cause incorrect predictions or degraded performance.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masis MT Pro Medium" panose="02040604050005020304" pitchFamily="18" charset="0"/>
              </a:rPr>
              <a:t>Such manipulations pose serious risks to critical applications — e.g., facial recognition, autonomous vehicles, healthcare, and cybersecurity.</a:t>
            </a:r>
          </a:p>
          <a:p>
            <a:pPr indent="-342900" algn="just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Amasis MT Pro Medium" panose="02040604050005020304" pitchFamily="18" charset="0"/>
              </a:rPr>
              <a:t> </a:t>
            </a:r>
            <a:r>
              <a:rPr lang="en-US" sz="2500" dirty="0">
                <a:latin typeface="Amasis MT Pro Medium" panose="02040604050005020304" pitchFamily="18" charset="0"/>
              </a:rPr>
              <a:t>Adversarial manipulations can bypass traditional AI defenses and persistently weaken system security.</a:t>
            </a:r>
          </a:p>
          <a:p>
            <a:pPr indent="-457200" algn="just">
              <a:buFont typeface="Arial" panose="020B0604020202020204" pitchFamily="34" charset="0"/>
              <a:buChar char="•"/>
            </a:pPr>
            <a:r>
              <a:rPr lang="en-US" sz="2500" dirty="0">
                <a:latin typeface="Amasis MT Pro Medium" panose="02040604050005020304" pitchFamily="18" charset="0"/>
              </a:rPr>
              <a:t>Minimal contamination (as little as 0.001% poisoned data) can cause significant shifts in model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F038-0CA5-566C-71EC-3F2060293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528" y="813698"/>
            <a:ext cx="10515600" cy="299109"/>
          </a:xfrm>
        </p:spPr>
        <p:txBody>
          <a:bodyPr>
            <a:normAutofit fontScale="90000"/>
          </a:bodyPr>
          <a:lstStyle/>
          <a:p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COMPARATIVE STUDY 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1534FE-A255-2C7D-A83E-733C63B156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708648"/>
              </p:ext>
            </p:extLst>
          </p:nvPr>
        </p:nvGraphicFramePr>
        <p:xfrm>
          <a:off x="553528" y="1112807"/>
          <a:ext cx="10887974" cy="5419792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439390">
                  <a:extLst>
                    <a:ext uri="{9D8B030D-6E8A-4147-A177-3AD203B41FA5}">
                      <a16:colId xmlns:a16="http://schemas.microsoft.com/office/drawing/2014/main" val="2172061202"/>
                    </a:ext>
                  </a:extLst>
                </a:gridCol>
                <a:gridCol w="2149286">
                  <a:extLst>
                    <a:ext uri="{9D8B030D-6E8A-4147-A177-3AD203B41FA5}">
                      <a16:colId xmlns:a16="http://schemas.microsoft.com/office/drawing/2014/main" val="1086787108"/>
                    </a:ext>
                  </a:extLst>
                </a:gridCol>
                <a:gridCol w="1343576">
                  <a:extLst>
                    <a:ext uri="{9D8B030D-6E8A-4147-A177-3AD203B41FA5}">
                      <a16:colId xmlns:a16="http://schemas.microsoft.com/office/drawing/2014/main" val="2949160481"/>
                    </a:ext>
                  </a:extLst>
                </a:gridCol>
                <a:gridCol w="1807404">
                  <a:extLst>
                    <a:ext uri="{9D8B030D-6E8A-4147-A177-3AD203B41FA5}">
                      <a16:colId xmlns:a16="http://schemas.microsoft.com/office/drawing/2014/main" val="3564931327"/>
                    </a:ext>
                  </a:extLst>
                </a:gridCol>
                <a:gridCol w="2155819">
                  <a:extLst>
                    <a:ext uri="{9D8B030D-6E8A-4147-A177-3AD203B41FA5}">
                      <a16:colId xmlns:a16="http://schemas.microsoft.com/office/drawing/2014/main" val="2359559632"/>
                    </a:ext>
                  </a:extLst>
                </a:gridCol>
                <a:gridCol w="1992499">
                  <a:extLst>
                    <a:ext uri="{9D8B030D-6E8A-4147-A177-3AD203B41FA5}">
                      <a16:colId xmlns:a16="http://schemas.microsoft.com/office/drawing/2014/main" val="278199726"/>
                    </a:ext>
                  </a:extLst>
                </a:gridCol>
              </a:tblGrid>
              <a:tr h="39626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</a:rPr>
                        <a:t>Attack Type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</a:rPr>
                        <a:t>Main Idea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</a:rPr>
                        <a:t>Domain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</a:rPr>
                        <a:t>Pros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</a:rPr>
                        <a:t>Cons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</a:rPr>
                        <a:t>Current defences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extLst>
                  <a:ext uri="{0D108BD9-81ED-4DB2-BD59-A6C34878D82A}">
                    <a16:rowId xmlns:a16="http://schemas.microsoft.com/office/drawing/2014/main" val="3354573842"/>
                  </a:ext>
                </a:extLst>
              </a:tr>
              <a:tr h="7147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</a:rPr>
                        <a:t>Gradient-based (FGSM)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</a:rPr>
                        <a:t>Uses model gradients to craft adversarial examples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Vision, NLP, GNN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</a:rPr>
                        <a:t>Fast, simple, highly studied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</a:rPr>
                        <a:t>Less effective against advanced defences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Adversarial training, PGD-based training, smoothing, input transformations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extLst>
                  <a:ext uri="{0D108BD9-81ED-4DB2-BD59-A6C34878D82A}">
                    <a16:rowId xmlns:a16="http://schemas.microsoft.com/office/drawing/2014/main" val="2577332869"/>
                  </a:ext>
                </a:extLst>
              </a:tr>
              <a:tr h="86439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</a:rPr>
                        <a:t>Data Poisoning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</a:rPr>
                        <a:t>Injects malicious data into training set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</a:rPr>
                        <a:t> 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Vision, Tabular, Security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Effective, hard to detect during training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Requires access to training phase, setup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Data sanitization, anomaly detection, risk-based ensemble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extLst>
                  <a:ext uri="{0D108BD9-81ED-4DB2-BD59-A6C34878D82A}">
                    <a16:rowId xmlns:a16="http://schemas.microsoft.com/office/drawing/2014/main" val="384035809"/>
                  </a:ext>
                </a:extLst>
              </a:tr>
              <a:tr h="89714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</a:rPr>
                        <a:t>Score-based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Uses output confidence scores to guide attack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APIs, deployed models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No model access needed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Needs many output queries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output rounding, query monitoring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extLst>
                  <a:ext uri="{0D108BD9-81ED-4DB2-BD59-A6C34878D82A}">
                    <a16:rowId xmlns:a16="http://schemas.microsoft.com/office/drawing/2014/main" val="2327072999"/>
                  </a:ext>
                </a:extLst>
              </a:tr>
              <a:tr h="7147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</a:rPr>
                        <a:t>Decision-based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Relies on final class label only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APIs, black-box models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Works with just labels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Slower, lots of model queries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Limited output/label exposure, detection of query patterns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 anchor="ctr"/>
                </a:tc>
                <a:extLst>
                  <a:ext uri="{0D108BD9-81ED-4DB2-BD59-A6C34878D82A}">
                    <a16:rowId xmlns:a16="http://schemas.microsoft.com/office/drawing/2014/main" val="1512958174"/>
                  </a:ext>
                </a:extLst>
              </a:tr>
              <a:tr h="81209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</a:rPr>
                        <a:t>Transfer-based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Generates adversarial samples on one model, applies to another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General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Transferability across models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Success rate varies, surrogate needed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Adversarial training across diverse architectures,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extLst>
                  <a:ext uri="{0D108BD9-81ED-4DB2-BD59-A6C34878D82A}">
                    <a16:rowId xmlns:a16="http://schemas.microsoft.com/office/drawing/2014/main" val="865305975"/>
                  </a:ext>
                </a:extLst>
              </a:tr>
              <a:tr h="83023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</a:rPr>
                        <a:t>Black-box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No model internals, probes via queries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</a:rPr>
                        <a:t>   Any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Works even if internals hidden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>
                          <a:effectLst/>
                        </a:rPr>
                        <a:t>Query cost, slower, lower success</a:t>
                      </a:r>
                      <a:endParaRPr lang="en-IN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dirty="0">
                          <a:effectLst/>
                        </a:rPr>
                        <a:t>Diversified training, robust architectures</a:t>
                      </a:r>
                      <a:endParaRPr lang="en-IN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84" marR="57284" marT="0" marB="0"/>
                </a:tc>
                <a:extLst>
                  <a:ext uri="{0D108BD9-81ED-4DB2-BD59-A6C34878D82A}">
                    <a16:rowId xmlns:a16="http://schemas.microsoft.com/office/drawing/2014/main" val="246292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445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masis MT Pro Medium" panose="02040604050005020304" pitchFamily="18" charset="0"/>
              </a:rPr>
              <a:t>Employ self-correcting and adaptive ML models trained to recognize adversarial manipulations.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masis MT Pro Medium" panose="02040604050005020304" pitchFamily="18" charset="0"/>
              </a:rPr>
              <a:t>Integrate multi-layered defense strategies: adversarial training, randomized smoothing, formal verification, and data sanitization.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masis MT Pro Medium" panose="02040604050005020304" pitchFamily="18" charset="0"/>
              </a:rPr>
              <a:t>Use ensemble and risk-driven approaches (e.g., risk assessment to route high-risk data to isolated models) to minimize the impact of poisoning attacks.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masis MT Pro Medium" panose="02040604050005020304" pitchFamily="18" charset="0"/>
              </a:rPr>
              <a:t>Apply monitoring and continuous re-evaluation to promptly detect and respond to emerging threats.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E3AC0-C567-E667-FC6D-D8122596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DC4B1-4537-68E3-7F64-F94BAF8C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84"/>
            <a:ext cx="10515600" cy="1325563"/>
          </a:xfrm>
        </p:spPr>
        <p:txBody>
          <a:bodyPr/>
          <a:lstStyle/>
          <a:p>
            <a:r>
              <a:rPr lang="en-IN" dirty="0"/>
              <a:t>Proposed Solution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A29E804-B432-27D5-3607-56A8BF2CD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453952"/>
              </p:ext>
            </p:extLst>
          </p:nvPr>
        </p:nvGraphicFramePr>
        <p:xfrm>
          <a:off x="838200" y="1216323"/>
          <a:ext cx="10600426" cy="5374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4653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7C2E2-CF4C-60AC-50F6-1EA9C048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Outcomes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7C2A3-7112-6966-CBAC-D6EF05E98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562" y="1940943"/>
            <a:ext cx="10515600" cy="5201729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masis MT Pro Medium" panose="02040604050005020304" pitchFamily="18" charset="0"/>
              </a:rPr>
              <a:t>Adversarial attacks (FGSM, PGD) implementation on MNIST—Colab notebooks with results</a:t>
            </a:r>
          </a:p>
          <a:p>
            <a:pPr algn="just"/>
            <a:r>
              <a:rPr lang="en-IN" dirty="0">
                <a:latin typeface="Amasis MT Pro Medium" panose="02040604050005020304" pitchFamily="18" charset="0"/>
              </a:rPr>
              <a:t> 3 defence strategies (Adversarial Training, Preprocessing, Ensemble) tested &amp; compared</a:t>
            </a:r>
          </a:p>
          <a:p>
            <a:pPr algn="just"/>
            <a:endParaRPr lang="en-IN" dirty="0">
              <a:latin typeface="Amasis MT Pro Medium" panose="02040604050005020304" pitchFamily="18" charset="0"/>
            </a:endParaRPr>
          </a:p>
          <a:p>
            <a:pPr algn="just"/>
            <a:r>
              <a:rPr lang="en-US" dirty="0">
                <a:latin typeface="Amasis MT Pro Medium" panose="02040604050005020304" pitchFamily="18" charset="0"/>
              </a:rPr>
              <a:t>Will develop and open‑source an Adversarial ML Robustness Testing Toolkit on GitHub (v1.0), including modular attack/defense implementations, comparative evaluations, and a </a:t>
            </a:r>
            <a:r>
              <a:rPr lang="en-US" dirty="0" err="1">
                <a:latin typeface="Amasis MT Pro Medium" panose="02040604050005020304" pitchFamily="18" charset="0"/>
              </a:rPr>
              <a:t>Streamlit</a:t>
            </a:r>
            <a:r>
              <a:rPr lang="en-US" dirty="0">
                <a:latin typeface="Amasis MT Pro Medium" panose="02040604050005020304" pitchFamily="18" charset="0"/>
              </a:rPr>
              <a:t> UI for educational use.</a:t>
            </a:r>
          </a:p>
          <a:p>
            <a:endParaRPr lang="en-IN" dirty="0">
              <a:latin typeface="Amasis MT Pro Medium" panose="02040604050005020304" pitchFamily="18" charset="0"/>
            </a:endParaRPr>
          </a:p>
          <a:p>
            <a:endParaRPr lang="en-IN" dirty="0">
              <a:latin typeface="Amasis MT Pro Medium" panose="02040604050005020304" pitchFamily="18" charset="0"/>
            </a:endParaRPr>
          </a:p>
          <a:p>
            <a:endParaRPr lang="en-IN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000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95C064B-E06D-E5C1-4D7E-9F824F351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3056"/>
            <a:ext cx="12192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B07460-3C4D-9A5B-F2AF-F7411B8D3E6B}"/>
              </a:ext>
            </a:extLst>
          </p:cNvPr>
          <p:cNvSpPr/>
          <p:nvPr/>
        </p:nvSpPr>
        <p:spPr>
          <a:xfrm>
            <a:off x="9540815" y="1751162"/>
            <a:ext cx="2130725" cy="4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E8BDF-D313-1EA5-8663-1B68134FD0D7}"/>
              </a:ext>
            </a:extLst>
          </p:cNvPr>
          <p:cNvSpPr txBox="1"/>
          <p:nvPr/>
        </p:nvSpPr>
        <p:spPr>
          <a:xfrm>
            <a:off x="2665562" y="594337"/>
            <a:ext cx="774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attacks strengthen, defensive strategy choice becomes critical.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9735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i="1" dirty="0">
                <a:latin typeface="Amasis MT Pro Medium" panose="02040604050005020304" pitchFamily="18" charset="0"/>
              </a:rPr>
              <a:t>Understand </a:t>
            </a:r>
            <a:r>
              <a:rPr lang="en-US" dirty="0">
                <a:latin typeface="Amasis MT Pro Medium" panose="02040604050005020304" pitchFamily="18" charset="0"/>
              </a:rPr>
              <a:t> how adversarial attacks and data poisoning compromise AI models.</a:t>
            </a:r>
            <a:endParaRPr lang="en-IN" dirty="0">
              <a:latin typeface="Amasis MT Pro Medium" panose="02040604050005020304" pitchFamily="18" charset="0"/>
            </a:endParaRPr>
          </a:p>
          <a:p>
            <a:pPr algn="just"/>
            <a:r>
              <a:rPr lang="en-US" b="1" i="1" dirty="0">
                <a:latin typeface="Amasis MT Pro Medium" panose="02040604050005020304" pitchFamily="18" charset="0"/>
              </a:rPr>
              <a:t>Evaluate</a:t>
            </a:r>
            <a:r>
              <a:rPr lang="en-US" dirty="0">
                <a:latin typeface="Amasis MT Pro Medium" panose="02040604050005020304" pitchFamily="18" charset="0"/>
              </a:rPr>
              <a:t>  existing attack types, mitigation strategies, and defense frameworks.</a:t>
            </a:r>
          </a:p>
          <a:p>
            <a:pPr algn="just"/>
            <a:r>
              <a:rPr lang="en-US" b="1" i="1" dirty="0">
                <a:latin typeface="Amasis MT Pro Medium" panose="02040604050005020304" pitchFamily="18" charset="0"/>
              </a:rPr>
              <a:t>Design </a:t>
            </a:r>
            <a:r>
              <a:rPr lang="en-US" dirty="0">
                <a:latin typeface="Amasis MT Pro Medium" panose="02040604050005020304" pitchFamily="18" charset="0"/>
              </a:rPr>
              <a:t> an adaptive, multi-layered defense model integrating risk-based and ensemble techniques.</a:t>
            </a:r>
          </a:p>
          <a:p>
            <a:pPr algn="just"/>
            <a:r>
              <a:rPr lang="en-US" b="1" i="1" dirty="0">
                <a:latin typeface="Amasis MT Pro Medium" panose="02040604050005020304" pitchFamily="18" charset="0"/>
              </a:rPr>
              <a:t>Enhance</a:t>
            </a:r>
            <a:r>
              <a:rPr lang="en-US" dirty="0">
                <a:latin typeface="Amasis MT Pro Medium" panose="02040604050005020304" pitchFamily="18" charset="0"/>
              </a:rPr>
              <a:t>  AI resilience through self-correcting and continuous monitoring mechanisms.</a:t>
            </a:r>
          </a:p>
          <a:p>
            <a:pPr algn="just"/>
            <a:r>
              <a:rPr lang="en-US" b="1" i="1" dirty="0">
                <a:latin typeface="Amasis MT Pro Medium" panose="02040604050005020304" pitchFamily="18" charset="0"/>
              </a:rPr>
              <a:t>Promote</a:t>
            </a:r>
            <a:r>
              <a:rPr lang="en-US" i="1" dirty="0">
                <a:latin typeface="Amasis MT Pro Medium" panose="02040604050005020304" pitchFamily="18" charset="0"/>
              </a:rPr>
              <a:t>  </a:t>
            </a:r>
            <a:r>
              <a:rPr lang="en-US" dirty="0">
                <a:latin typeface="Amasis MT Pro Medium" panose="02040604050005020304" pitchFamily="18" charset="0"/>
              </a:rPr>
              <a:t>standardized benchmarks, prevention-focused methods, and collaboration in adversarial ML research.</a:t>
            </a:r>
            <a:endParaRPr lang="en-IN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671" y="149554"/>
            <a:ext cx="10515600" cy="1325563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5117"/>
            <a:ext cx="10790209" cy="5201728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US" sz="1900" dirty="0"/>
              <a:t>Vassilev, A., </a:t>
            </a:r>
            <a:r>
              <a:rPr lang="en-US" sz="1900" dirty="0" err="1"/>
              <a:t>Oprea</a:t>
            </a:r>
            <a:r>
              <a:rPr lang="en-US" sz="1900" dirty="0"/>
              <a:t>, A., Fordyce, A., Anderson, H., Davies, X., &amp; </a:t>
            </a:r>
            <a:r>
              <a:rPr lang="en-US" sz="1900" dirty="0" err="1"/>
              <a:t>Hamin</a:t>
            </a:r>
            <a:r>
              <a:rPr lang="en-US" sz="1900" dirty="0"/>
              <a:t>, </a:t>
            </a:r>
            <a:r>
              <a:rPr lang="en-US" sz="1900" dirty="0" err="1"/>
              <a:t>M.Adversarial</a:t>
            </a:r>
            <a:r>
              <a:rPr lang="en-US" sz="1900" dirty="0"/>
              <a:t> Machine Learning: A Taxonomy and Terminology of Attacks and </a:t>
            </a:r>
            <a:r>
              <a:rPr lang="en-US" sz="1900" dirty="0" err="1"/>
              <a:t>Mitigations.NIST</a:t>
            </a:r>
            <a:r>
              <a:rPr lang="en-US" sz="1900" dirty="0"/>
              <a:t>, 2024..</a:t>
            </a:r>
          </a:p>
          <a:p>
            <a:pPr marL="0" indent="0">
              <a:buNone/>
            </a:pPr>
            <a:br>
              <a:rPr lang="en-US" sz="1900" dirty="0"/>
            </a:br>
            <a:r>
              <a:rPr lang="en-US" sz="1900" dirty="0"/>
              <a:t>2.  Bena, N., </a:t>
            </a:r>
            <a:r>
              <a:rPr lang="en-US" sz="1900" dirty="0" err="1"/>
              <a:t>Anisetti</a:t>
            </a:r>
            <a:r>
              <a:rPr lang="en-US" sz="1900" dirty="0"/>
              <a:t>, M., Damiani, E., Yeun, C. Y., &amp; </a:t>
            </a:r>
            <a:r>
              <a:rPr lang="en-US" sz="1900" dirty="0" err="1"/>
              <a:t>Ardagna</a:t>
            </a:r>
            <a:r>
              <a:rPr lang="en-US" sz="1900" dirty="0"/>
              <a:t>, C. </a:t>
            </a:r>
            <a:r>
              <a:rPr lang="en-US" sz="1900" dirty="0" err="1"/>
              <a:t>A.Protecting</a:t>
            </a:r>
            <a:r>
              <a:rPr lang="en-US" sz="1900" dirty="0"/>
              <a:t> Machine Learning from Poisoning Attacks: A Risk-Based </a:t>
            </a:r>
            <a:r>
              <a:rPr lang="en-US" sz="1900" dirty="0" err="1"/>
              <a:t>Approach.Journal</a:t>
            </a:r>
            <a:r>
              <a:rPr lang="en-US" sz="1900" dirty="0"/>
              <a:t> of Information Security and Applications, 2025</a:t>
            </a:r>
          </a:p>
          <a:p>
            <a:pPr marL="0" indent="0">
              <a:buNone/>
            </a:pPr>
            <a:br>
              <a:rPr lang="en-US" sz="1900" dirty="0"/>
            </a:br>
            <a:r>
              <a:rPr lang="en-US" sz="1900" dirty="0"/>
              <a:t>3.  </a:t>
            </a:r>
            <a:r>
              <a:rPr lang="en-US" sz="1900" dirty="0" err="1"/>
              <a:t>Pawlicki</a:t>
            </a:r>
            <a:r>
              <a:rPr lang="en-US" sz="1900" dirty="0"/>
              <a:t>, M., </a:t>
            </a:r>
            <a:r>
              <a:rPr lang="en-US" sz="1900" dirty="0" err="1"/>
              <a:t>Pawlicka</a:t>
            </a:r>
            <a:r>
              <a:rPr lang="en-US" sz="1900" dirty="0"/>
              <a:t>, A., </a:t>
            </a:r>
            <a:r>
              <a:rPr lang="en-US" sz="1900" dirty="0" err="1"/>
              <a:t>Kozik</a:t>
            </a:r>
            <a:r>
              <a:rPr lang="en-US" sz="1900" dirty="0"/>
              <a:t>, R., &amp; </a:t>
            </a:r>
            <a:r>
              <a:rPr lang="en-US" sz="1900" dirty="0" err="1"/>
              <a:t>Choraś</a:t>
            </a:r>
            <a:r>
              <a:rPr lang="en-US" sz="1900" dirty="0"/>
              <a:t>, </a:t>
            </a:r>
            <a:r>
              <a:rPr lang="en-US" sz="1900" dirty="0" err="1"/>
              <a:t>M.Survey</a:t>
            </a:r>
            <a:r>
              <a:rPr lang="en-US" sz="1900" dirty="0"/>
              <a:t> on Adversarial Attacks and Defenses in Deep </a:t>
            </a:r>
            <a:r>
              <a:rPr lang="en-US" sz="1900" dirty="0" err="1"/>
              <a:t>Learning.Applied</a:t>
            </a:r>
            <a:r>
              <a:rPr lang="en-US" sz="1900" dirty="0"/>
              <a:t> Sciences, 2024</a:t>
            </a:r>
          </a:p>
          <a:p>
            <a:pPr marL="0" indent="0">
              <a:buNone/>
            </a:pPr>
            <a:br>
              <a:rPr lang="en-US" sz="1900" dirty="0"/>
            </a:br>
            <a:r>
              <a:rPr lang="en-US" sz="1900" dirty="0"/>
              <a:t>4.  </a:t>
            </a:r>
            <a:r>
              <a:rPr lang="en-US" sz="1900" dirty="0" err="1"/>
              <a:t>Ndayipfukamiye</a:t>
            </a:r>
            <a:r>
              <a:rPr lang="en-US" sz="1900" dirty="0"/>
              <a:t>, D., Ding, X., </a:t>
            </a:r>
            <a:r>
              <a:rPr lang="en-US" sz="1900" dirty="0" err="1"/>
              <a:t>Sarwatt</a:t>
            </a:r>
            <a:r>
              <a:rPr lang="en-US" sz="1900" dirty="0"/>
              <a:t>, D., </a:t>
            </a:r>
            <a:r>
              <a:rPr lang="en-US" sz="1900" dirty="0" err="1"/>
              <a:t>Philipo</a:t>
            </a:r>
            <a:r>
              <a:rPr lang="en-US" sz="1900" dirty="0"/>
              <a:t>, C., &amp; Ning, H.A Systematic Review of GAN-based Adversarial Attacks and Defenses in </a:t>
            </a:r>
            <a:r>
              <a:rPr lang="en-US" sz="1900" dirty="0" err="1"/>
              <a:t>Cybersecurity.IEEE</a:t>
            </a:r>
            <a:r>
              <a:rPr lang="en-US" sz="1900" dirty="0"/>
              <a:t> Access, 2025.</a:t>
            </a:r>
          </a:p>
          <a:p>
            <a:pPr marL="0" indent="0">
              <a:buNone/>
            </a:pPr>
            <a:br>
              <a:rPr lang="en-US" sz="1900" dirty="0"/>
            </a:br>
            <a:r>
              <a:rPr lang="en-US" sz="1900" dirty="0"/>
              <a:t>5. </a:t>
            </a:r>
            <a:r>
              <a:rPr lang="en-US" sz="1900" dirty="0" err="1"/>
              <a:t>Ndayipfukamiye</a:t>
            </a:r>
            <a:r>
              <a:rPr lang="en-US" sz="1900" dirty="0"/>
              <a:t>, D., Ding, X., </a:t>
            </a:r>
            <a:r>
              <a:rPr lang="en-US" sz="1900" dirty="0" err="1"/>
              <a:t>Sarwatt</a:t>
            </a:r>
            <a:r>
              <a:rPr lang="en-US" sz="1900" dirty="0"/>
              <a:t>, D., </a:t>
            </a:r>
            <a:r>
              <a:rPr lang="en-US" sz="1900" dirty="0" err="1"/>
              <a:t>Philipo</a:t>
            </a:r>
            <a:r>
              <a:rPr lang="en-US" sz="1900" dirty="0"/>
              <a:t>, C., &amp; Ning, H.A Systematic Review of GAN-based Adversarial Attacks and Defenses in </a:t>
            </a:r>
            <a:r>
              <a:rPr lang="en-US" sz="1900" dirty="0" err="1"/>
              <a:t>Cybersecurity.IEEE</a:t>
            </a:r>
            <a:r>
              <a:rPr lang="en-US" sz="1900" dirty="0"/>
              <a:t> Access, 2024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6. </a:t>
            </a:r>
            <a:r>
              <a:rPr lang="en-US" sz="1900" dirty="0" err="1"/>
              <a:t>Muthalagu</a:t>
            </a:r>
            <a:r>
              <a:rPr lang="en-US" sz="1900" dirty="0"/>
              <a:t>, R., Malik, R., &amp; Pawar, </a:t>
            </a:r>
            <a:r>
              <a:rPr lang="en-US" sz="1900" dirty="0" err="1"/>
              <a:t>S.Adversarial</a:t>
            </a:r>
            <a:r>
              <a:rPr lang="en-US" sz="1900" dirty="0"/>
              <a:t> Training and Abstract Interpretation for Robust Malware </a:t>
            </a:r>
            <a:r>
              <a:rPr lang="en-US" sz="1900" dirty="0" err="1"/>
              <a:t>Detection.Computers</a:t>
            </a:r>
            <a:r>
              <a:rPr lang="en-US" sz="1900" dirty="0"/>
              <a:t> &amp; Security, 2023.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656" y="2351048"/>
            <a:ext cx="6546011" cy="1806884"/>
          </a:xfrm>
        </p:spPr>
        <p:txBody>
          <a:bodyPr>
            <a:normAutofit/>
          </a:bodyPr>
          <a:lstStyle/>
          <a:p>
            <a:r>
              <a:rPr lang="en-IN" sz="5000" i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</TotalTime>
  <Words>1321</Words>
  <Application>Microsoft Office PowerPoint</Application>
  <PresentationFormat>Widescreen</PresentationFormat>
  <Paragraphs>149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Amasis MT Pro Medium</vt:lpstr>
      <vt:lpstr>Aptos</vt:lpstr>
      <vt:lpstr>Aptos Display</vt:lpstr>
      <vt:lpstr>Arial</vt:lpstr>
      <vt:lpstr>Bahnschrift SemiBold Condensed</vt:lpstr>
      <vt:lpstr>Calibri</vt:lpstr>
      <vt:lpstr>Wingdings</vt:lpstr>
      <vt:lpstr>Office Theme</vt:lpstr>
      <vt:lpstr>Adversarial Attacks and Data Poisoning in Machine Learning</vt:lpstr>
      <vt:lpstr>Outline</vt:lpstr>
      <vt:lpstr>Introduction</vt:lpstr>
      <vt:lpstr>Introduction</vt:lpstr>
      <vt:lpstr>Literature Review</vt:lpstr>
      <vt:lpstr>Literature Review</vt:lpstr>
      <vt:lpstr>Problem Statement</vt:lpstr>
      <vt:lpstr>COMPARATIVE STUDY  </vt:lpstr>
      <vt:lpstr>Proposed Solution</vt:lpstr>
      <vt:lpstr>Proposed Solution</vt:lpstr>
      <vt:lpstr>Outcomes achieved</vt:lpstr>
      <vt:lpstr>PowerPoint Presentation</vt:lpstr>
      <vt:lpstr>Objectives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Sanjay Gupta</cp:lastModifiedBy>
  <cp:revision>3</cp:revision>
  <dcterms:created xsi:type="dcterms:W3CDTF">2025-09-29T05:03:41Z</dcterms:created>
  <dcterms:modified xsi:type="dcterms:W3CDTF">2026-02-15T17:30:29Z</dcterms:modified>
</cp:coreProperties>
</file>