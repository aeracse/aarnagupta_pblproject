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6" r:id="rId7"/>
    <p:sldId id="260" r:id="rId8"/>
    <p:sldId id="261" r:id="rId9"/>
    <p:sldId id="270" r:id="rId10"/>
    <p:sldId id="269" r:id="rId11"/>
    <p:sldId id="268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38FA4D-4B11-4930-A7F8-73BE1E84C44D}" v="14" dt="2026-04-12T23:55:55.6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404" autoAdjust="0"/>
  </p:normalViewPr>
  <p:slideViewPr>
    <p:cSldViewPr snapToGrid="0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jay Gupta" userId="0ceb5ecc091c02fb" providerId="LiveId" clId="{DD70D303-2FB2-4ED7-BD6D-36242CA5B775}"/>
    <pc:docChg chg="undo custSel addSld delSld modSld sldOrd">
      <pc:chgData name="Sanjay Gupta" userId="0ceb5ecc091c02fb" providerId="LiveId" clId="{DD70D303-2FB2-4ED7-BD6D-36242CA5B775}" dt="2026-04-12T23:56:54.671" v="817" actId="2711"/>
      <pc:docMkLst>
        <pc:docMk/>
      </pc:docMkLst>
      <pc:sldChg chg="modSp mod">
        <pc:chgData name="Sanjay Gupta" userId="0ceb5ecc091c02fb" providerId="LiveId" clId="{DD70D303-2FB2-4ED7-BD6D-36242CA5B775}" dt="2026-04-12T23:52:05.144" v="761" actId="1076"/>
        <pc:sldMkLst>
          <pc:docMk/>
          <pc:sldMk cId="380237416" sldId="256"/>
        </pc:sldMkLst>
        <pc:spChg chg="mod">
          <ac:chgData name="Sanjay Gupta" userId="0ceb5ecc091c02fb" providerId="LiveId" clId="{DD70D303-2FB2-4ED7-BD6D-36242CA5B775}" dt="2026-04-12T23:52:05.144" v="761" actId="1076"/>
          <ac:spMkLst>
            <pc:docMk/>
            <pc:sldMk cId="380237416" sldId="256"/>
            <ac:spMk id="2" creationId="{874FB14B-13FD-63D0-B558-FA2B9FA1B8F9}"/>
          </ac:spMkLst>
        </pc:spChg>
      </pc:sldChg>
      <pc:sldChg chg="modSp mod">
        <pc:chgData name="Sanjay Gupta" userId="0ceb5ecc091c02fb" providerId="LiveId" clId="{DD70D303-2FB2-4ED7-BD6D-36242CA5B775}" dt="2026-04-12T23:52:13.695" v="763" actId="27636"/>
        <pc:sldMkLst>
          <pc:docMk/>
          <pc:sldMk cId="2878976597" sldId="258"/>
        </pc:sldMkLst>
        <pc:spChg chg="mod">
          <ac:chgData name="Sanjay Gupta" userId="0ceb5ecc091c02fb" providerId="LiveId" clId="{DD70D303-2FB2-4ED7-BD6D-36242CA5B775}" dt="2026-04-12T23:52:13.695" v="763" actId="27636"/>
          <ac:spMkLst>
            <pc:docMk/>
            <pc:sldMk cId="2878976597" sldId="258"/>
            <ac:spMk id="3" creationId="{E031CBD1-1236-BD10-F9B4-E2675BA38ED1}"/>
          </ac:spMkLst>
        </pc:spChg>
      </pc:sldChg>
      <pc:sldChg chg="modSp mod">
        <pc:chgData name="Sanjay Gupta" userId="0ceb5ecc091c02fb" providerId="LiveId" clId="{DD70D303-2FB2-4ED7-BD6D-36242CA5B775}" dt="2026-04-12T23:13:06.742" v="19" actId="20577"/>
        <pc:sldMkLst>
          <pc:docMk/>
          <pc:sldMk cId="310308161" sldId="259"/>
        </pc:sldMkLst>
        <pc:graphicFrameChg chg="modGraphic">
          <ac:chgData name="Sanjay Gupta" userId="0ceb5ecc091c02fb" providerId="LiveId" clId="{DD70D303-2FB2-4ED7-BD6D-36242CA5B775}" dt="2026-04-12T23:13:06.742" v="19" actId="20577"/>
          <ac:graphicFrameMkLst>
            <pc:docMk/>
            <pc:sldMk cId="310308161" sldId="259"/>
            <ac:graphicFrameMk id="6" creationId="{4EFE96B5-FEFD-B5C4-176D-3CA5F6410106}"/>
          </ac:graphicFrameMkLst>
        </pc:graphicFrameChg>
      </pc:sldChg>
      <pc:sldChg chg="modSp mod">
        <pc:chgData name="Sanjay Gupta" userId="0ceb5ecc091c02fb" providerId="LiveId" clId="{DD70D303-2FB2-4ED7-BD6D-36242CA5B775}" dt="2026-04-12T23:52:42.154" v="769" actId="20577"/>
        <pc:sldMkLst>
          <pc:docMk/>
          <pc:sldMk cId="2374707807" sldId="260"/>
        </pc:sldMkLst>
        <pc:spChg chg="mod">
          <ac:chgData name="Sanjay Gupta" userId="0ceb5ecc091c02fb" providerId="LiveId" clId="{DD70D303-2FB2-4ED7-BD6D-36242CA5B775}" dt="2026-04-12T23:52:42.154" v="769" actId="20577"/>
          <ac:spMkLst>
            <pc:docMk/>
            <pc:sldMk cId="2374707807" sldId="260"/>
            <ac:spMk id="3" creationId="{CB024CC5-00AF-876C-F7CA-146754384CB0}"/>
          </ac:spMkLst>
        </pc:spChg>
      </pc:sldChg>
      <pc:sldChg chg="modSp mod">
        <pc:chgData name="Sanjay Gupta" userId="0ceb5ecc091c02fb" providerId="LiveId" clId="{DD70D303-2FB2-4ED7-BD6D-36242CA5B775}" dt="2026-04-12T23:20:29.572" v="611" actId="20577"/>
        <pc:sldMkLst>
          <pc:docMk/>
          <pc:sldMk cId="1077724860" sldId="261"/>
        </pc:sldMkLst>
        <pc:spChg chg="mod">
          <ac:chgData name="Sanjay Gupta" userId="0ceb5ecc091c02fb" providerId="LiveId" clId="{DD70D303-2FB2-4ED7-BD6D-36242CA5B775}" dt="2026-04-12T23:20:29.572" v="611" actId="20577"/>
          <ac:spMkLst>
            <pc:docMk/>
            <pc:sldMk cId="1077724860" sldId="261"/>
            <ac:spMk id="3" creationId="{F7E7EF98-E6AD-70D5-2BE9-3A859F15DFF4}"/>
          </ac:spMkLst>
        </pc:spChg>
      </pc:sldChg>
      <pc:sldChg chg="modSp mod">
        <pc:chgData name="Sanjay Gupta" userId="0ceb5ecc091c02fb" providerId="LiveId" clId="{DD70D303-2FB2-4ED7-BD6D-36242CA5B775}" dt="2026-04-12T23:45:55.422" v="660" actId="27636"/>
        <pc:sldMkLst>
          <pc:docMk/>
          <pc:sldMk cId="3547097812" sldId="262"/>
        </pc:sldMkLst>
        <pc:spChg chg="mod">
          <ac:chgData name="Sanjay Gupta" userId="0ceb5ecc091c02fb" providerId="LiveId" clId="{DD70D303-2FB2-4ED7-BD6D-36242CA5B775}" dt="2026-04-12T23:45:55.422" v="660" actId="27636"/>
          <ac:spMkLst>
            <pc:docMk/>
            <pc:sldMk cId="3547097812" sldId="262"/>
            <ac:spMk id="3" creationId="{CE3E25AA-71BA-D0F6-3993-32491BD06DD7}"/>
          </ac:spMkLst>
        </pc:spChg>
      </pc:sldChg>
      <pc:sldChg chg="modSp mod">
        <pc:chgData name="Sanjay Gupta" userId="0ceb5ecc091c02fb" providerId="LiveId" clId="{DD70D303-2FB2-4ED7-BD6D-36242CA5B775}" dt="2026-04-12T23:13:37.782" v="40" actId="20577"/>
        <pc:sldMkLst>
          <pc:docMk/>
          <pc:sldMk cId="2329668647" sldId="266"/>
        </pc:sldMkLst>
        <pc:graphicFrameChg chg="modGraphic">
          <ac:chgData name="Sanjay Gupta" userId="0ceb5ecc091c02fb" providerId="LiveId" clId="{DD70D303-2FB2-4ED7-BD6D-36242CA5B775}" dt="2026-04-12T23:13:37.782" v="40" actId="20577"/>
          <ac:graphicFrameMkLst>
            <pc:docMk/>
            <pc:sldMk cId="2329668647" sldId="266"/>
            <ac:graphicFrameMk id="6" creationId="{B9A64FDF-1BF7-84CB-76E7-A0552713ACE1}"/>
          </ac:graphicFrameMkLst>
        </pc:graphicFrameChg>
      </pc:sldChg>
      <pc:sldChg chg="del">
        <pc:chgData name="Sanjay Gupta" userId="0ceb5ecc091c02fb" providerId="LiveId" clId="{DD70D303-2FB2-4ED7-BD6D-36242CA5B775}" dt="2026-04-12T23:43:33.302" v="641" actId="2696"/>
        <pc:sldMkLst>
          <pc:docMk/>
          <pc:sldMk cId="3134653077" sldId="267"/>
        </pc:sldMkLst>
      </pc:sldChg>
      <pc:sldChg chg="addSp delSp modSp new mod">
        <pc:chgData name="Sanjay Gupta" userId="0ceb5ecc091c02fb" providerId="LiveId" clId="{DD70D303-2FB2-4ED7-BD6D-36242CA5B775}" dt="2026-04-12T23:56:54.671" v="817" actId="2711"/>
        <pc:sldMkLst>
          <pc:docMk/>
          <pc:sldMk cId="4013669399" sldId="268"/>
        </pc:sldMkLst>
        <pc:spChg chg="del">
          <ac:chgData name="Sanjay Gupta" userId="0ceb5ecc091c02fb" providerId="LiveId" clId="{DD70D303-2FB2-4ED7-BD6D-36242CA5B775}" dt="2026-04-12T23:49:40.864" v="691" actId="478"/>
          <ac:spMkLst>
            <pc:docMk/>
            <pc:sldMk cId="4013669399" sldId="268"/>
            <ac:spMk id="2" creationId="{6F75F1D5-3519-F1D4-6A88-529FE9EBBB48}"/>
          </ac:spMkLst>
        </pc:spChg>
        <pc:spChg chg="add mod">
          <ac:chgData name="Sanjay Gupta" userId="0ceb5ecc091c02fb" providerId="LiveId" clId="{DD70D303-2FB2-4ED7-BD6D-36242CA5B775}" dt="2026-04-12T23:55:44.649" v="774" actId="1076"/>
          <ac:spMkLst>
            <pc:docMk/>
            <pc:sldMk cId="4013669399" sldId="268"/>
            <ac:spMk id="5" creationId="{7FB404C5-8C86-BF61-D494-79455FB2E33A}"/>
          </ac:spMkLst>
        </pc:spChg>
        <pc:spChg chg="add mod">
          <ac:chgData name="Sanjay Gupta" userId="0ceb5ecc091c02fb" providerId="LiveId" clId="{DD70D303-2FB2-4ED7-BD6D-36242CA5B775}" dt="2026-04-12T23:56:54.671" v="817" actId="2711"/>
          <ac:spMkLst>
            <pc:docMk/>
            <pc:sldMk cId="4013669399" sldId="268"/>
            <ac:spMk id="6" creationId="{3CCFB49F-7492-9F8B-FFD9-64618B13D2C9}"/>
          </ac:spMkLst>
        </pc:spChg>
        <pc:picChg chg="add mod modCrop">
          <ac:chgData name="Sanjay Gupta" userId="0ceb5ecc091c02fb" providerId="LiveId" clId="{DD70D303-2FB2-4ED7-BD6D-36242CA5B775}" dt="2026-04-12T23:55:31.974" v="771" actId="1076"/>
          <ac:picMkLst>
            <pc:docMk/>
            <pc:sldMk cId="4013669399" sldId="268"/>
            <ac:picMk id="4" creationId="{D743B32A-D005-780E-0837-9C08F2F348FC}"/>
          </ac:picMkLst>
        </pc:picChg>
      </pc:sldChg>
      <pc:sldChg chg="addSp delSp modSp new mod ord">
        <pc:chgData name="Sanjay Gupta" userId="0ceb5ecc091c02fb" providerId="LiveId" clId="{DD70D303-2FB2-4ED7-BD6D-36242CA5B775}" dt="2026-04-12T23:48:46.945" v="685" actId="1076"/>
        <pc:sldMkLst>
          <pc:docMk/>
          <pc:sldMk cId="4239039534" sldId="269"/>
        </pc:sldMkLst>
        <pc:spChg chg="del">
          <ac:chgData name="Sanjay Gupta" userId="0ceb5ecc091c02fb" providerId="LiveId" clId="{DD70D303-2FB2-4ED7-BD6D-36242CA5B775}" dt="2026-04-12T23:46:50.182" v="665" actId="478"/>
          <ac:spMkLst>
            <pc:docMk/>
            <pc:sldMk cId="4239039534" sldId="269"/>
            <ac:spMk id="2" creationId="{46F6501F-FFCD-2658-1F5B-734C447B2117}"/>
          </ac:spMkLst>
        </pc:spChg>
        <pc:spChg chg="del">
          <ac:chgData name="Sanjay Gupta" userId="0ceb5ecc091c02fb" providerId="LiveId" clId="{DD70D303-2FB2-4ED7-BD6D-36242CA5B775}" dt="2026-04-12T23:48:14.114" v="678" actId="931"/>
          <ac:spMkLst>
            <pc:docMk/>
            <pc:sldMk cId="4239039534" sldId="269"/>
            <ac:spMk id="3" creationId="{05BD6EA3-6CA0-AB0C-3533-10B31157458C}"/>
          </ac:spMkLst>
        </pc:spChg>
        <pc:spChg chg="mod">
          <ac:chgData name="Sanjay Gupta" userId="0ceb5ecc091c02fb" providerId="LiveId" clId="{DD70D303-2FB2-4ED7-BD6D-36242CA5B775}" dt="2026-04-12T23:47:40.282" v="677" actId="255"/>
          <ac:spMkLst>
            <pc:docMk/>
            <pc:sldMk cId="4239039534" sldId="269"/>
            <ac:spMk id="4" creationId="{BE9A0B6D-F665-08FE-D945-FCCBD26CC992}"/>
          </ac:spMkLst>
        </pc:spChg>
        <pc:picChg chg="add mod ord modCrop">
          <ac:chgData name="Sanjay Gupta" userId="0ceb5ecc091c02fb" providerId="LiveId" clId="{DD70D303-2FB2-4ED7-BD6D-36242CA5B775}" dt="2026-04-12T23:48:46.945" v="685" actId="1076"/>
          <ac:picMkLst>
            <pc:docMk/>
            <pc:sldMk cId="4239039534" sldId="269"/>
            <ac:picMk id="6" creationId="{C07D7A22-6556-F7E9-2B9D-C1D6DFDDE708}"/>
          </ac:picMkLst>
        </pc:picChg>
      </pc:sldChg>
      <pc:sldChg chg="addSp modSp new mod ord">
        <pc:chgData name="Sanjay Gupta" userId="0ceb5ecc091c02fb" providerId="LiveId" clId="{DD70D303-2FB2-4ED7-BD6D-36242CA5B775}" dt="2026-04-12T23:27:00.959" v="640"/>
        <pc:sldMkLst>
          <pc:docMk/>
          <pc:sldMk cId="1854218456" sldId="270"/>
        </pc:sldMkLst>
        <pc:spChg chg="add mod">
          <ac:chgData name="Sanjay Gupta" userId="0ceb5ecc091c02fb" providerId="LiveId" clId="{DD70D303-2FB2-4ED7-BD6D-36242CA5B775}" dt="2026-04-12T23:26:56.406" v="638" actId="1076"/>
          <ac:spMkLst>
            <pc:docMk/>
            <pc:sldMk cId="1854218456" sldId="270"/>
            <ac:spMk id="3" creationId="{45BBDE78-6F2B-AEC6-3038-9FB5852B4713}"/>
          </ac:spMkLst>
        </pc:spChg>
        <pc:graphicFrameChg chg="add mod modGraphic">
          <ac:chgData name="Sanjay Gupta" userId="0ceb5ecc091c02fb" providerId="LiveId" clId="{DD70D303-2FB2-4ED7-BD6D-36242CA5B775}" dt="2026-04-12T23:26:49.272" v="637" actId="1076"/>
          <ac:graphicFrameMkLst>
            <pc:docMk/>
            <pc:sldMk cId="1854218456" sldId="270"/>
            <ac:graphicFrameMk id="2" creationId="{69E63C68-3FF5-9F8F-C64C-10C979E1FFC5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542" y="2481529"/>
            <a:ext cx="9265920" cy="183858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Adversarial Attacks and </a:t>
            </a:r>
            <a:r>
              <a:rPr lang="en-IN" b="1" dirty="0" err="1"/>
              <a:t>Defenses</a:t>
            </a:r>
            <a:r>
              <a:rPr lang="en-IN" b="1" dirty="0"/>
              <a:t> in Machine Learning</a:t>
            </a:r>
            <a:endParaRPr lang="en-IN" sz="4000" dirty="0">
              <a:latin typeface="Bahnschrift SemiBold Condensed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AARNA GUPTA </a:t>
            </a:r>
          </a:p>
          <a:p>
            <a:r>
              <a:rPr lang="en-IN" dirty="0"/>
              <a:t>2427030695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DR. NEHA JANU </a:t>
            </a:r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688" y="2141537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  <p:pic>
        <p:nvPicPr>
          <p:cNvPr id="5" name="Graphic 4" descr="Artificial Intelligence outline">
            <a:extLst>
              <a:ext uri="{FF2B5EF4-FFF2-40B4-BE49-F238E27FC236}">
                <a16:creationId xmlns:a16="http://schemas.microsoft.com/office/drawing/2014/main" id="{F39DC0B7-1BDF-A5D7-397A-7E1FB0340E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77172" y="2618994"/>
            <a:ext cx="1620012" cy="1620012"/>
          </a:xfrm>
          <a:prstGeom prst="rect">
            <a:avLst/>
          </a:prstGeom>
        </p:spPr>
      </p:pic>
      <p:pic>
        <p:nvPicPr>
          <p:cNvPr id="7" name="Graphic 6" descr="Ethernet outline">
            <a:extLst>
              <a:ext uri="{FF2B5EF4-FFF2-40B4-BE49-F238E27FC236}">
                <a16:creationId xmlns:a16="http://schemas.microsoft.com/office/drawing/2014/main" id="{16027B0C-4E19-3AAD-6448-464E48BDE1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6640" y="3605505"/>
            <a:ext cx="1782432" cy="1782432"/>
          </a:xfrm>
          <a:prstGeom prst="rect">
            <a:avLst/>
          </a:prstGeom>
        </p:spPr>
      </p:pic>
      <p:pic>
        <p:nvPicPr>
          <p:cNvPr id="9" name="Graphic 8" descr="Programmer male outline">
            <a:extLst>
              <a:ext uri="{FF2B5EF4-FFF2-40B4-BE49-F238E27FC236}">
                <a16:creationId xmlns:a16="http://schemas.microsoft.com/office/drawing/2014/main" id="{DAB4BBAA-A39A-E73A-3C5B-3D1D205D6B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03916" y="1158431"/>
            <a:ext cx="1955927" cy="195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2807"/>
            <a:ext cx="10838688" cy="428415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i="1" dirty="0">
                <a:latin typeface="Amasis MT Pro Medium" panose="020F0502020204030204" pitchFamily="18" charset="0"/>
                <a:cs typeface="Aharoni" panose="020F0502020204030204" pitchFamily="2" charset="-79"/>
              </a:rPr>
              <a:t>Adversarial Attacks  </a:t>
            </a:r>
            <a:r>
              <a:rPr lang="en-US" dirty="0">
                <a:latin typeface="Amasis MT Pro Medium" panose="020F0502020204030204" pitchFamily="18" charset="0"/>
                <a:cs typeface="Aharoni" panose="020F0502020204030204" pitchFamily="2" charset="-79"/>
              </a:rPr>
              <a:t>are</a:t>
            </a:r>
            <a:r>
              <a:rPr lang="en-US" i="1" dirty="0">
                <a:latin typeface="Amasis MT Pro Medium" panose="020F0502020204030204" pitchFamily="18" charset="0"/>
                <a:cs typeface="Aharoni" panose="020F0502020204030204" pitchFamily="2" charset="-79"/>
              </a:rPr>
              <a:t> </a:t>
            </a:r>
            <a:r>
              <a:rPr lang="en-US" dirty="0">
                <a:latin typeface="Amasis MT Pro Medium" panose="020F0502020204030204" pitchFamily="18" charset="0"/>
                <a:cs typeface="Aharoni" panose="020F0502020204030204" pitchFamily="2" charset="-79"/>
              </a:rPr>
              <a:t>Subtle manipulations of input data that mislead AI models into making wrong predictions.</a:t>
            </a:r>
          </a:p>
          <a:p>
            <a:pPr marL="0" indent="0" algn="just">
              <a:buNone/>
            </a:pPr>
            <a:r>
              <a:rPr lang="en-US" dirty="0">
                <a:latin typeface="Amasis MT Pro Medium" panose="020F0502020204030204" pitchFamily="18" charset="0"/>
                <a:cs typeface="Aharoni" panose="020F0502020204030204" pitchFamily="2" charset="-79"/>
              </a:rPr>
              <a:t>samples into the training dataset to degrade model performance.</a:t>
            </a:r>
          </a:p>
          <a:p>
            <a:pPr algn="just">
              <a:buFont typeface="Wingdings" panose="05000000000000000000" pitchFamily="2" charset="2"/>
              <a:buChar char="è"/>
            </a:pPr>
            <a:r>
              <a:rPr lang="en-US" dirty="0">
                <a:latin typeface="Amasis MT Pro Medium" panose="020F0502020204030204" pitchFamily="18" charset="0"/>
                <a:cs typeface="Aharoni" panose="020F0502020204030204" pitchFamily="2" charset="-79"/>
              </a:rPr>
              <a:t>Threatens critical applications like facial recognition, autonomous driving, and malware detection. </a:t>
            </a:r>
          </a:p>
          <a:p>
            <a:pPr algn="just">
              <a:buFont typeface="Wingdings" panose="05000000000000000000" pitchFamily="2" charset="2"/>
              <a:buChar char="è"/>
            </a:pPr>
            <a:r>
              <a:rPr lang="en-US" dirty="0">
                <a:latin typeface="Amasis MT Pro Medium" panose="020F0502020204030204" pitchFamily="18" charset="0"/>
                <a:cs typeface="Aharoni" panose="020F0502020204030204" pitchFamily="2" charset="-79"/>
              </a:rPr>
              <a:t>Exposes vulnerabilities in AI systems due to their statistical and data-driven nature. </a:t>
            </a:r>
          </a:p>
          <a:p>
            <a:pPr algn="just">
              <a:buFont typeface="Wingdings" panose="05000000000000000000" pitchFamily="2" charset="2"/>
              <a:buChar char="è"/>
            </a:pPr>
            <a:r>
              <a:rPr lang="en-US" dirty="0">
                <a:latin typeface="Amasis MT Pro Medium" panose="020F0502020204030204" pitchFamily="18" charset="0"/>
                <a:cs typeface="Aharoni" panose="020F0502020204030204" pitchFamily="2" charset="-79"/>
              </a:rPr>
              <a:t>Highlights the need for robust and resilient AI models that can detect and resist such manipulations.</a:t>
            </a:r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7E459-0BEF-EB25-6403-669A9F89C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0A09F-1E23-75A4-FC65-AE948741A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7EA8F-F35B-A46B-7D3A-DCA2CFAC9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2807"/>
            <a:ext cx="10838688" cy="4284155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Amasis MT Pro Medium" panose="02040604050005020304" pitchFamily="18" charset="0"/>
              </a:rPr>
              <a:t>AI and ML systems are now embedded in critical domains — from healthcare and finance to self-driving vehicles and cybersecurity. Even minor manipulations in input data can cause major errors in prediction or decision-making. Attackers exploit the data-driven nature of AI to cause system failures or gain unauthorized access.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Amasis MT Pro Medium" panose="02040604050005020304" pitchFamily="18" charset="0"/>
              </a:rPr>
              <a:t> Examples: Slightly modified traffic signs misleading autonomous cars. Poisoned datasets making malware detectors ignore new threats. </a:t>
            </a:r>
          </a:p>
        </p:txBody>
      </p:sp>
    </p:spTree>
    <p:extLst>
      <p:ext uri="{BB962C8B-B14F-4D97-AF65-F5344CB8AC3E}">
        <p14:creationId xmlns:p14="http://schemas.microsoft.com/office/powerpoint/2010/main" val="3852393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257" y="-143834"/>
            <a:ext cx="10515600" cy="1325563"/>
          </a:xfrm>
        </p:spPr>
        <p:txBody>
          <a:bodyPr/>
          <a:lstStyle/>
          <a:p>
            <a:r>
              <a:rPr lang="en-IN" dirty="0"/>
              <a:t>Literature Review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EFE96B5-FEFD-B5C4-176D-3CA5F64101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9118742"/>
              </p:ext>
            </p:extLst>
          </p:nvPr>
        </p:nvGraphicFramePr>
        <p:xfrm>
          <a:off x="766314" y="816577"/>
          <a:ext cx="10896599" cy="588614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51989">
                  <a:extLst>
                    <a:ext uri="{9D8B030D-6E8A-4147-A177-3AD203B41FA5}">
                      <a16:colId xmlns:a16="http://schemas.microsoft.com/office/drawing/2014/main" val="1569386605"/>
                    </a:ext>
                  </a:extLst>
                </a:gridCol>
                <a:gridCol w="2714870">
                  <a:extLst>
                    <a:ext uri="{9D8B030D-6E8A-4147-A177-3AD203B41FA5}">
                      <a16:colId xmlns:a16="http://schemas.microsoft.com/office/drawing/2014/main" val="2958044032"/>
                    </a:ext>
                  </a:extLst>
                </a:gridCol>
                <a:gridCol w="2714870">
                  <a:extLst>
                    <a:ext uri="{9D8B030D-6E8A-4147-A177-3AD203B41FA5}">
                      <a16:colId xmlns:a16="http://schemas.microsoft.com/office/drawing/2014/main" val="330956852"/>
                    </a:ext>
                  </a:extLst>
                </a:gridCol>
                <a:gridCol w="2714870">
                  <a:extLst>
                    <a:ext uri="{9D8B030D-6E8A-4147-A177-3AD203B41FA5}">
                      <a16:colId xmlns:a16="http://schemas.microsoft.com/office/drawing/2014/main" val="1099883107"/>
                    </a:ext>
                  </a:extLst>
                </a:gridCol>
              </a:tblGrid>
              <a:tr h="6867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Author &amp; Year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Methods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Focus Area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Limitations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224644"/>
                  </a:ext>
                </a:extLst>
              </a:tr>
              <a:tr h="1569639">
                <a:tc>
                  <a:txBody>
                    <a:bodyPr/>
                    <a:lstStyle/>
                    <a:p>
                      <a:r>
                        <a:rPr lang="da-DK" dirty="0"/>
                        <a:t>Vassilev, Oprea, Fordyce, Anderson, Davies, Hamin</a:t>
                      </a:r>
                    </a:p>
                    <a:p>
                      <a:r>
                        <a:rPr lang="da-DK" dirty="0"/>
                        <a:t>(2023)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Comprehensive taxonomy; attack classification (stage, goals, knowledge); mitigations: adversarial training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Taxonomy of adversarial ML attacks &amp; defenses.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Conceptual; empirical defenses; lacks formal benchmarks; evolving threats.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688810"/>
                  </a:ext>
                </a:extLst>
              </a:tr>
              <a:tr h="1962049">
                <a:tc>
                  <a:txBody>
                    <a:bodyPr/>
                    <a:lstStyle/>
                    <a:p>
                      <a:r>
                        <a:rPr lang="it-IT" dirty="0"/>
                        <a:t>Bena, Anisetti, Damiani, Yeun, Ardagna (2023)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Risk-based ensemble: assigns poisoning risk using indicators of poisoning </a:t>
                      </a:r>
                      <a:r>
                        <a:rPr lang="en-IN" sz="1600" dirty="0" err="1"/>
                        <a:t>IoPs</a:t>
                      </a:r>
                      <a:r>
                        <a:rPr lang="en-IN" sz="1600" dirty="0"/>
                        <a:t> (SVM, </a:t>
                      </a:r>
                      <a:r>
                        <a:rPr lang="en-IN" sz="1600" dirty="0" err="1"/>
                        <a:t>kNN</a:t>
                      </a:r>
                      <a:r>
                        <a:rPr lang="en-IN" sz="1600" dirty="0"/>
                        <a:t>, centroids), routes data via round-robin/sink strategy.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Defending against data poisoning using risk-aware ensembles.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Evaluated on small tabular datasets; limited generalization to deep learning.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271564"/>
                  </a:ext>
                </a:extLst>
              </a:tr>
              <a:tr h="1667742">
                <a:tc>
                  <a:txBody>
                    <a:bodyPr/>
                    <a:lstStyle/>
                    <a:p>
                      <a:r>
                        <a:rPr lang="en-IN" dirty="0"/>
                        <a:t>Pawlicki, Pawlicka, Kozik, </a:t>
                      </a:r>
                      <a:r>
                        <a:rPr lang="en-IN" dirty="0" err="1"/>
                        <a:t>Choraś</a:t>
                      </a:r>
                      <a:r>
                        <a:rPr lang="en-IN" dirty="0"/>
                        <a:t>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Meta-survey (systematic review) of papers; categorization of deep-learning models and performance metrics; gap analysis.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Survey of adversarial attacks and detection in DL models.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Inconsistent paper selection; missing standard metrics; lacks structure.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067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5B968-A196-0273-B8F6-39A7C3FA3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1707C-E484-1E45-298D-0CC49F292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257" y="-143834"/>
            <a:ext cx="10515600" cy="1325563"/>
          </a:xfrm>
        </p:spPr>
        <p:txBody>
          <a:bodyPr/>
          <a:lstStyle/>
          <a:p>
            <a:r>
              <a:rPr lang="en-IN" dirty="0"/>
              <a:t>Literature Review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9A64FDF-1BF7-84CB-76E7-A0552713AC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4584414"/>
              </p:ext>
            </p:extLst>
          </p:nvPr>
        </p:nvGraphicFramePr>
        <p:xfrm>
          <a:off x="766314" y="816577"/>
          <a:ext cx="10896599" cy="588614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51989">
                  <a:extLst>
                    <a:ext uri="{9D8B030D-6E8A-4147-A177-3AD203B41FA5}">
                      <a16:colId xmlns:a16="http://schemas.microsoft.com/office/drawing/2014/main" val="1569386605"/>
                    </a:ext>
                  </a:extLst>
                </a:gridCol>
                <a:gridCol w="2714870">
                  <a:extLst>
                    <a:ext uri="{9D8B030D-6E8A-4147-A177-3AD203B41FA5}">
                      <a16:colId xmlns:a16="http://schemas.microsoft.com/office/drawing/2014/main" val="2958044032"/>
                    </a:ext>
                  </a:extLst>
                </a:gridCol>
                <a:gridCol w="2714870">
                  <a:extLst>
                    <a:ext uri="{9D8B030D-6E8A-4147-A177-3AD203B41FA5}">
                      <a16:colId xmlns:a16="http://schemas.microsoft.com/office/drawing/2014/main" val="330956852"/>
                    </a:ext>
                  </a:extLst>
                </a:gridCol>
                <a:gridCol w="2714870">
                  <a:extLst>
                    <a:ext uri="{9D8B030D-6E8A-4147-A177-3AD203B41FA5}">
                      <a16:colId xmlns:a16="http://schemas.microsoft.com/office/drawing/2014/main" val="1099883107"/>
                    </a:ext>
                  </a:extLst>
                </a:gridCol>
              </a:tblGrid>
              <a:tr h="6867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Author &amp; Year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Methods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Focus Area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Limitations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224644"/>
                  </a:ext>
                </a:extLst>
              </a:tr>
              <a:tr h="1569639">
                <a:tc>
                  <a:txBody>
                    <a:bodyPr/>
                    <a:lstStyle/>
                    <a:p>
                      <a:r>
                        <a:rPr lang="en-IN" dirty="0" err="1"/>
                        <a:t>Ndayipfukamiye</a:t>
                      </a:r>
                      <a:r>
                        <a:rPr lang="en-IN" dirty="0"/>
                        <a:t>, Ding, </a:t>
                      </a:r>
                      <a:r>
                        <a:rPr lang="en-IN" dirty="0" err="1"/>
                        <a:t>Sarwatt</a:t>
                      </a:r>
                      <a:r>
                        <a:rPr lang="en-IN" dirty="0"/>
                        <a:t>, Philipo, Ning (2023)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PRISMA-based review; GAN taxonomy (defensive function, architecture, threat model).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GAN-based methods for cyber threat detection and mitigation.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GANs costly, unstable, and lack standardized benchmarks.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688810"/>
                  </a:ext>
                </a:extLst>
              </a:tr>
              <a:tr h="1962049">
                <a:tc>
                  <a:txBody>
                    <a:bodyPr/>
                    <a:lstStyle/>
                    <a:p>
                      <a:r>
                        <a:rPr lang="en-IN" dirty="0"/>
                        <a:t>Lakera Team(2024)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Survey of poisoning vectors and supply-chain risks; tools: </a:t>
                      </a:r>
                      <a:r>
                        <a:rPr lang="en-US" dirty="0" err="1"/>
                        <a:t>PoisonBench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MCPTox</a:t>
                      </a:r>
                      <a:r>
                        <a:rPr lang="en-US" dirty="0"/>
                        <a:t>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Data poisoning in generative AI pipelines.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Poisoning detection &amp; recovery immature; stealthy attacks impactful.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271564"/>
                  </a:ext>
                </a:extLst>
              </a:tr>
              <a:tr h="1667742">
                <a:tc>
                  <a:txBody>
                    <a:bodyPr/>
                    <a:lstStyle/>
                    <a:p>
                      <a:r>
                        <a:rPr lang="en-IN" dirty="0" err="1"/>
                        <a:t>Muthalagu</a:t>
                      </a:r>
                      <a:r>
                        <a:rPr lang="en-IN" dirty="0"/>
                        <a:t>, Malik, Pawar </a:t>
                      </a:r>
                    </a:p>
                    <a:p>
                      <a:r>
                        <a:rPr lang="en-IN" dirty="0"/>
                        <a:t>(2024)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Adversarial training &amp; abstract interpretation; mixture of attacks for malware detection robustness.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Robust ML for malware evasion defense.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Dependent on adversarial sample quality; complex; dataset-sensitive.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067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9668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812" y="0"/>
            <a:ext cx="10515600" cy="1325563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743" y="1459865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b="1" i="1" dirty="0"/>
              <a:t>Vulnerabilities of AI Models to Adversarial Attacks</a:t>
            </a:r>
            <a:br>
              <a:rPr lang="en-US" i="1" dirty="0"/>
            </a:br>
            <a:endParaRPr lang="en-US" i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2F5B1B9-FB64-C4D8-3051-C1DA1DCEA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657" y="2493236"/>
            <a:ext cx="11194181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Medium" panose="02040604050005020304" pitchFamily="18" charset="0"/>
              </a:rPr>
              <a:t>Machine learning models rely heavily on large and diverse datasets for training.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Medium" panose="02040604050005020304" pitchFamily="18" charset="0"/>
              </a:rPr>
              <a:t>Attackers can manipulate these datasets or model inputs to intentionally cause incorrect predictions or degraded performance.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Medium" panose="02040604050005020304" pitchFamily="18" charset="0"/>
              </a:rPr>
              <a:t>Such manipulations pose serious risks to critical applications — e.g., facial recognition, autonomous vehicles, healthcare, and cybersecurity.</a:t>
            </a:r>
            <a:r>
              <a:rPr lang="en-US" sz="2800" b="0" i="0" dirty="0">
                <a:effectLst/>
                <a:latin typeface="Amasis MT Pro Medium" panose="02040604050005020304" pitchFamily="18" charset="0"/>
              </a:rPr>
              <a:t> Adversarial manipulations can bypass traditional AI defenses and persistently weaken system security.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Amasis MT Pro Medium" panose="02040604050005020304" pitchFamily="18" charset="0"/>
              </a:rPr>
              <a:t>Minimal contamination (as little as 0.001% poisoned data) can cause significant shifts in model behavior.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808"/>
            <a:ext cx="10515600" cy="448627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2200" dirty="0">
              <a:latin typeface="Amasis MT Pro Medium" panose="02040604050005020304" pitchFamily="18" charset="0"/>
            </a:endParaRPr>
          </a:p>
          <a:p>
            <a:pPr marL="0" indent="0">
              <a:buNone/>
            </a:pPr>
            <a:r>
              <a:rPr lang="en-IN" sz="2200" dirty="0">
                <a:latin typeface="Amasis MT Pro Medium" panose="02040604050005020304" pitchFamily="18" charset="0"/>
              </a:rPr>
              <a:t>Create an interactive web platform for adversarial ML research:</a:t>
            </a:r>
          </a:p>
          <a:p>
            <a:pPr marL="0" indent="0">
              <a:buNone/>
            </a:pPr>
            <a:endParaRPr lang="en-IN" sz="2200" dirty="0">
              <a:latin typeface="Amasis MT Pro Medium" panose="02040604050005020304" pitchFamily="18" charset="0"/>
            </a:endParaRPr>
          </a:p>
          <a:p>
            <a:pPr marL="457200" indent="-457200">
              <a:buAutoNum type="arabicPeriod"/>
            </a:pPr>
            <a:r>
              <a:rPr lang="en-IN" sz="2200" dirty="0">
                <a:latin typeface="Amasis MT Pro Medium" panose="02040604050005020304" pitchFamily="18" charset="0"/>
              </a:rPr>
              <a:t>VISUALIZER: Side-by-side MNIST images (clean vs FGSM/PGD attacked) with slider epsilon change for </a:t>
            </a:r>
            <a:r>
              <a:rPr lang="en-IN" sz="2200" dirty="0" err="1">
                <a:latin typeface="Amasis MT Pro Medium" panose="02040604050005020304" pitchFamily="18" charset="0"/>
              </a:rPr>
              <a:t>interactiveness</a:t>
            </a:r>
            <a:r>
              <a:rPr lang="en-IN" sz="2200" dirty="0">
                <a:latin typeface="Amasis MT Pro Medium" panose="02040604050005020304" pitchFamily="18" charset="0"/>
              </a:rPr>
              <a:t>.</a:t>
            </a:r>
          </a:p>
          <a:p>
            <a:pPr marL="457200" indent="-457200">
              <a:buAutoNum type="arabicPeriod"/>
            </a:pPr>
            <a:r>
              <a:rPr lang="en-IN" sz="2200" dirty="0">
                <a:latin typeface="Amasis MT Pro Medium" panose="02040604050005020304" pitchFamily="18" charset="0"/>
              </a:rPr>
              <a:t>2. EXPERIMENT LAB: Pre-built runs experiments like (FGSM vs PGD) on accuracy/robustness stats</a:t>
            </a:r>
          </a:p>
          <a:p>
            <a:pPr marL="0" indent="0">
              <a:buNone/>
            </a:pPr>
            <a:r>
              <a:rPr lang="en-IN" sz="2200" dirty="0">
                <a:latin typeface="Amasis MT Pro Medium" panose="02040604050005020304" pitchFamily="18" charset="0"/>
              </a:rPr>
              <a:t>3. DEVELOPER LAB: Upload custom models/datasets → auto-run fixed attacks (</a:t>
            </a:r>
            <a:r>
              <a:rPr lang="el-GR" sz="2200" dirty="0">
                <a:latin typeface="Amasis MT Pro Medium" panose="02040604050005020304" pitchFamily="18" charset="0"/>
              </a:rPr>
              <a:t>ε=0.3) → </a:t>
            </a:r>
            <a:r>
              <a:rPr lang="en-IN" sz="2200" dirty="0">
                <a:latin typeface="Amasis MT Pro Medium" panose="02040604050005020304" pitchFamily="18" charset="0"/>
              </a:rPr>
              <a:t>eval + visualizations</a:t>
            </a:r>
          </a:p>
          <a:p>
            <a:pPr marL="0" indent="0">
              <a:buNone/>
            </a:pPr>
            <a:r>
              <a:rPr lang="en-IN" sz="2200" dirty="0">
                <a:latin typeface="Amasis MT Pro Medium" panose="02040604050005020304" pitchFamily="18" charset="0"/>
              </a:rPr>
              <a:t>4. BENCHMARKS: Compare vs baselines (TRADES, MART </a:t>
            </a:r>
            <a:r>
              <a:rPr lang="en-IN" sz="2200" dirty="0" err="1">
                <a:latin typeface="Amasis MT Pro Medium" panose="02040604050005020304" pitchFamily="18" charset="0"/>
              </a:rPr>
              <a:t>defenses</a:t>
            </a:r>
            <a:r>
              <a:rPr lang="en-IN" sz="2200" dirty="0">
                <a:latin typeface="Amasis MT Pro Medium" panose="02040604050005020304" pitchFamily="18" charset="0"/>
              </a:rPr>
              <a:t>) on CIFAR-10/MNIST</a:t>
            </a:r>
          </a:p>
          <a:p>
            <a:pPr marL="0" indent="0">
              <a:buNone/>
            </a:pPr>
            <a:endParaRPr lang="en-IN" sz="2200" dirty="0">
              <a:latin typeface="Amasis MT Pro Medium" panose="02040604050005020304" pitchFamily="18" charset="0"/>
            </a:endParaRPr>
          </a:p>
          <a:p>
            <a:pPr marL="0" indent="0">
              <a:buNone/>
            </a:pPr>
            <a:r>
              <a:rPr lang="en-IN" sz="2200" dirty="0">
                <a:latin typeface="Amasis MT Pro Medium" panose="02040604050005020304" pitchFamily="18" charset="0"/>
              </a:rPr>
              <a:t>Tech: </a:t>
            </a:r>
            <a:r>
              <a:rPr lang="en-IN" sz="2200" dirty="0" err="1">
                <a:latin typeface="Amasis MT Pro Medium" panose="02040604050005020304" pitchFamily="18" charset="0"/>
              </a:rPr>
              <a:t>Streamlit</a:t>
            </a:r>
            <a:r>
              <a:rPr lang="en-IN" sz="2200" dirty="0">
                <a:latin typeface="Amasis MT Pro Medium" panose="02040604050005020304" pitchFamily="18" charset="0"/>
              </a:rPr>
              <a:t> (UI) + </a:t>
            </a:r>
            <a:r>
              <a:rPr lang="en-IN" sz="2200" dirty="0" err="1">
                <a:latin typeface="Amasis MT Pro Medium" panose="02040604050005020304" pitchFamily="18" charset="0"/>
              </a:rPr>
              <a:t>torchattacks</a:t>
            </a:r>
            <a:r>
              <a:rPr lang="en-IN" sz="2200" dirty="0">
                <a:latin typeface="Amasis MT Pro Medium" panose="02040604050005020304" pitchFamily="18" charset="0"/>
              </a:rPr>
              <a:t> (FGSM/PGD </a:t>
            </a:r>
            <a:r>
              <a:rPr lang="en-IN" sz="2200" dirty="0" err="1">
                <a:latin typeface="Amasis MT Pro Medium" panose="02040604050005020304" pitchFamily="18" charset="0"/>
              </a:rPr>
              <a:t>impl</a:t>
            </a:r>
            <a:r>
              <a:rPr lang="en-IN" sz="2200" dirty="0">
                <a:latin typeface="Amasis MT Pro Medium" panose="02040604050005020304" pitchFamily="18" charset="0"/>
              </a:rPr>
              <a:t>) + Plotly (charts)</a:t>
            </a:r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E63C68-3FF5-9F8F-C64C-10C979E1FF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684808"/>
              </p:ext>
            </p:extLst>
          </p:nvPr>
        </p:nvGraphicFramePr>
        <p:xfrm>
          <a:off x="86627" y="86626"/>
          <a:ext cx="11839073" cy="6548335"/>
        </p:xfrm>
        <a:graphic>
          <a:graphicData uri="http://schemas.openxmlformats.org/drawingml/2006/table">
            <a:tbl>
              <a:tblPr firstRow="1" firstCol="1" bandRow="1"/>
              <a:tblGrid>
                <a:gridCol w="2782688">
                  <a:extLst>
                    <a:ext uri="{9D8B030D-6E8A-4147-A177-3AD203B41FA5}">
                      <a16:colId xmlns:a16="http://schemas.microsoft.com/office/drawing/2014/main" val="2386837052"/>
                    </a:ext>
                  </a:extLst>
                </a:gridCol>
                <a:gridCol w="4047546">
                  <a:extLst>
                    <a:ext uri="{9D8B030D-6E8A-4147-A177-3AD203B41FA5}">
                      <a16:colId xmlns:a16="http://schemas.microsoft.com/office/drawing/2014/main" val="638151157"/>
                    </a:ext>
                  </a:extLst>
                </a:gridCol>
                <a:gridCol w="5008839">
                  <a:extLst>
                    <a:ext uri="{9D8B030D-6E8A-4147-A177-3AD203B41FA5}">
                      <a16:colId xmlns:a16="http://schemas.microsoft.com/office/drawing/2014/main" val="1738434495"/>
                    </a:ext>
                  </a:extLst>
                </a:gridCol>
              </a:tblGrid>
              <a:tr h="394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Technique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Description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Limitation / Notes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487438"/>
                  </a:ext>
                </a:extLst>
              </a:tr>
              <a:tr h="1104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FGSM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Fast Gradient Sign Method — single-step gradient-based attack that adds perturbation </a:t>
                      </a:r>
                      <a:r>
                        <a:rPr lang="en-IN" sz="15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ε·sign</a:t>
                      </a:r>
                      <a:r>
                        <a:rPr lang="en-IN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(∇J) to input.</a:t>
                      </a:r>
                      <a:endParaRPr lang="en-IN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Less powerful; single-step makes it easier to defend against with simple thresholding.</a:t>
                      </a:r>
                      <a:endParaRPr lang="en-IN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618426"/>
                  </a:ext>
                </a:extLst>
              </a:tr>
              <a:tr h="867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PGD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Projected Gradient Descent — iterative extension of FGSM; applies multiple bounded steps.</a:t>
                      </a:r>
                      <a:endParaRPr lang="en-IN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Computationally expensive; stronger attack often used as benchmark for robustness.</a:t>
                      </a:r>
                      <a:endParaRPr lang="en-IN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201612"/>
                  </a:ext>
                </a:extLst>
              </a:tr>
              <a:tr h="1104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Adversarial Training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Augments training data with adversarial examples (FGSM/PGD-generated) to improve model resilience.</a:t>
                      </a:r>
                      <a:endParaRPr lang="en-IN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Increases training time; may reduce accuracy on clean data if not balanced.</a:t>
                      </a:r>
                      <a:endParaRPr lang="en-IN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80797"/>
                  </a:ext>
                </a:extLst>
              </a:tr>
              <a:tr h="867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Noise Injection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Adds random Gaussian/uniform noise to inputs as a preprocessing step or during attack.</a:t>
                      </a:r>
                      <a:endParaRPr lang="en-IN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May be insufficient alone; useful as a hybrid component.</a:t>
                      </a:r>
                      <a:endParaRPr lang="en-IN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094815"/>
                  </a:ext>
                </a:extLst>
              </a:tr>
              <a:tr h="867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Input Preprocessing </a:t>
                      </a:r>
                      <a:r>
                        <a:rPr lang="en-IN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Defense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Applies filters (e.g., denoising, feature squeezing) to remove adversarial perturbations.</a:t>
                      </a:r>
                      <a:endParaRPr lang="en-IN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Can degrade clean accuracy; attacker may adapt to known preprocessing.</a:t>
                      </a:r>
                      <a:endParaRPr lang="en-IN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23229"/>
                  </a:ext>
                </a:extLst>
              </a:tr>
              <a:tr h="631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Confidence-Based </a:t>
                      </a:r>
                      <a:r>
                        <a:rPr lang="en-IN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Defense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Flags low-confidence predictions as potentially adversarial inputs.</a:t>
                      </a:r>
                      <a:endParaRPr lang="en-IN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Adaptive attacks can produce high-confidence adversarial examples.</a:t>
                      </a:r>
                      <a:endParaRPr lang="en-IN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631349"/>
                  </a:ext>
                </a:extLst>
              </a:tr>
              <a:tr h="631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Gradient Masking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Obscures gradient information to hinder gradient-based attacks.</a:t>
                      </a:r>
                      <a:endParaRPr lang="en-IN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Does not provide true robustness; attackers can use gradient estimation.</a:t>
                      </a:r>
                      <a:endParaRPr lang="en-IN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660735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45BBDE78-6F2B-AEC6-3038-9FB5852B4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003122" y="6634961"/>
            <a:ext cx="2019824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Tabl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1: Summary of adversarial attack and defense techniques reviewed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218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07D7A22-6556-F7E9-2B9D-C1D6DFDDE70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3" t="30716" r="45088" b="11581"/>
          <a:stretch>
            <a:fillRect/>
          </a:stretch>
        </p:blipFill>
        <p:spPr>
          <a:xfrm>
            <a:off x="5357991" y="836761"/>
            <a:ext cx="5994221" cy="485918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9A0B6D-F665-08FE-D945-FCCBD26CC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646981"/>
            <a:ext cx="3932237" cy="5460521"/>
          </a:xfrm>
        </p:spPr>
        <p:txBody>
          <a:bodyPr>
            <a:normAutofit fontScale="92500" lnSpcReduction="20000"/>
          </a:bodyPr>
          <a:lstStyle/>
          <a:p>
            <a:r>
              <a:rPr lang="en-IN" sz="2000" b="1" dirty="0"/>
              <a:t>Novel Attack Concepts Under Investigation:</a:t>
            </a:r>
          </a:p>
          <a:p>
            <a:endParaRPr lang="en-IN" sz="2200" dirty="0"/>
          </a:p>
          <a:p>
            <a:pPr lvl="0"/>
            <a:r>
              <a:rPr lang="en-IN" sz="2200" b="1" i="1" dirty="0"/>
              <a:t>Hybrid Pipeline Attack</a:t>
            </a:r>
            <a:r>
              <a:rPr lang="en-IN" sz="2200" dirty="0"/>
              <a:t>: Chains FGSM (initial perturbation) + Gaussian noise injection + PGD (iterative refinement) to produce stronger, less predictable adversarial examples.</a:t>
            </a:r>
          </a:p>
          <a:p>
            <a:pPr lvl="0"/>
            <a:r>
              <a:rPr lang="en-IN" sz="2200" b="1" i="1" dirty="0"/>
              <a:t>Confidence-Adaptive FGSM</a:t>
            </a:r>
            <a:r>
              <a:rPr lang="en-IN" sz="2200" dirty="0"/>
              <a:t>: Dynamically scales the perturbation epsilon based on the model's prediction confidence — applying larger perturbations to high-confidence predictions.</a:t>
            </a:r>
          </a:p>
          <a:p>
            <a:pPr lvl="0"/>
            <a:r>
              <a:rPr lang="en-IN" sz="2200" b="1" i="1" dirty="0"/>
              <a:t>Class-Sensitivity Attack</a:t>
            </a:r>
            <a:r>
              <a:rPr lang="en-IN" sz="2200" dirty="0"/>
              <a:t>: Identifies which target classes are most vulnerable (have the lowest adversarial accuracy threshold) and focuses perturbations on cross-class boundaries for those classes.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9039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43B32A-D005-780E-0837-9C08F2F348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0" t="26966" r="20120" b="8691"/>
          <a:stretch>
            <a:fillRect/>
          </a:stretch>
        </p:blipFill>
        <p:spPr>
          <a:xfrm>
            <a:off x="207035" y="517581"/>
            <a:ext cx="7729268" cy="50498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B404C5-8C86-BF61-D494-79455FB2E33A}"/>
              </a:ext>
            </a:extLst>
          </p:cNvPr>
          <p:cNvSpPr txBox="1"/>
          <p:nvPr/>
        </p:nvSpPr>
        <p:spPr>
          <a:xfrm>
            <a:off x="1431986" y="5688319"/>
            <a:ext cx="5865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fig. clean vs </a:t>
            </a:r>
            <a:r>
              <a:rPr lang="en-IN" i="1" dirty="0" err="1"/>
              <a:t>fgsm</a:t>
            </a:r>
            <a:r>
              <a:rPr lang="en-IN" i="1" dirty="0"/>
              <a:t> vs </a:t>
            </a:r>
            <a:r>
              <a:rPr lang="en-IN" i="1" dirty="0" err="1"/>
              <a:t>pgd</a:t>
            </a:r>
            <a:r>
              <a:rPr lang="en-IN" i="1" dirty="0"/>
              <a:t> (with increasing epsilon)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CFB49F-7492-9F8B-FFD9-64618B13D2C9}"/>
              </a:ext>
            </a:extLst>
          </p:cNvPr>
          <p:cNvSpPr txBox="1"/>
          <p:nvPr/>
        </p:nvSpPr>
        <p:spPr>
          <a:xfrm>
            <a:off x="8393503" y="1028343"/>
            <a:ext cx="329529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i="1" dirty="0">
                <a:latin typeface="Amasis MT Pro Medium" panose="02040604050005020304" pitchFamily="18" charset="0"/>
              </a:rPr>
              <a:t>key findings included:</a:t>
            </a:r>
          </a:p>
          <a:p>
            <a:pPr lvl="0"/>
            <a:endParaRPr lang="en-IN" i="1" dirty="0">
              <a:latin typeface="Amasis MT Pro Medium" panose="02040604050005020304" pitchFamily="18" charset="0"/>
            </a:endParaRPr>
          </a:p>
          <a:p>
            <a:pPr lvl="0"/>
            <a:r>
              <a:rPr lang="en-IN" dirty="0">
                <a:latin typeface="Amasis MT Pro Medium" panose="02040604050005020304" pitchFamily="18" charset="0"/>
              </a:rPr>
              <a:t>ML models are highly vulnerable to adversarial attacks, even with small perturbations (ε ≤ 0.1) causing significant accuracy drops</a:t>
            </a:r>
          </a:p>
          <a:p>
            <a:pPr lvl="0"/>
            <a:endParaRPr lang="en-IN" dirty="0">
              <a:latin typeface="Amasis MT Pro Medium" panose="02040604050005020304" pitchFamily="18" charset="0"/>
            </a:endParaRPr>
          </a:p>
          <a:p>
            <a:pPr lvl="0"/>
            <a:r>
              <a:rPr lang="en-IN" dirty="0">
                <a:latin typeface="Amasis MT Pro Medium" panose="02040604050005020304" pitchFamily="18" charset="0"/>
              </a:rPr>
              <a:t>FGSM is fast but relatively weak; PGD is a stronger, iterative benchmark attack</a:t>
            </a:r>
          </a:p>
          <a:p>
            <a:pPr lvl="0"/>
            <a:endParaRPr lang="en-IN" dirty="0">
              <a:latin typeface="Amasis MT Pro Medium" panose="02040604050005020304" pitchFamily="18" charset="0"/>
            </a:endParaRPr>
          </a:p>
          <a:p>
            <a:pPr lvl="0"/>
            <a:r>
              <a:rPr lang="en-IN" dirty="0">
                <a:latin typeface="Amasis MT Pro Medium" panose="02040604050005020304" pitchFamily="18" charset="0"/>
              </a:rPr>
              <a:t>Adversarial training is the most reliable empirical </a:t>
            </a:r>
            <a:r>
              <a:rPr lang="en-IN" dirty="0" err="1">
                <a:latin typeface="Amasis MT Pro Medium" panose="02040604050005020304" pitchFamily="18" charset="0"/>
              </a:rPr>
              <a:t>defense</a:t>
            </a:r>
            <a:r>
              <a:rPr lang="en-IN" dirty="0">
                <a:latin typeface="Amasis MT Pro Medium" panose="02040604050005020304" pitchFamily="18" charset="0"/>
              </a:rPr>
              <a:t>, though it comes at increased computational cost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3669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b="1" i="1" dirty="0">
                <a:latin typeface="Amasis MT Pro Medium" panose="02040604050005020304" pitchFamily="18" charset="0"/>
              </a:rPr>
              <a:t>Understand  how adversarial attacks and data poisoning compromise AI models.</a:t>
            </a:r>
            <a:endParaRPr lang="en-IN" b="1" i="1" dirty="0">
              <a:latin typeface="Amasis MT Pro Medium" panose="02040604050005020304" pitchFamily="18" charset="0"/>
            </a:endParaRPr>
          </a:p>
          <a:p>
            <a:pPr lvl="0"/>
            <a:r>
              <a:rPr lang="en-US" b="1" i="1" dirty="0">
                <a:latin typeface="Amasis MT Pro Medium" panose="02040604050005020304" pitchFamily="18" charset="0"/>
              </a:rPr>
              <a:t>Evaluate  existing attack types, mitigation strategies, and defense frameworks.</a:t>
            </a:r>
            <a:r>
              <a:rPr lang="en-IN" b="1" i="1" dirty="0">
                <a:latin typeface="Amasis MT Pro Medium" panose="02040604050005020304" pitchFamily="18" charset="0"/>
              </a:rPr>
              <a:t> </a:t>
            </a:r>
          </a:p>
          <a:p>
            <a:pPr lvl="0"/>
            <a:r>
              <a:rPr lang="en-IN" b="1" i="1" dirty="0">
                <a:latin typeface="Amasis MT Pro Medium" panose="02040604050005020304" pitchFamily="18" charset="0"/>
              </a:rPr>
              <a:t>To evaluate the impact of varying epsilon values on model performance across multiple metrics</a:t>
            </a:r>
          </a:p>
          <a:p>
            <a:pPr lvl="0"/>
            <a:r>
              <a:rPr lang="en-IN" b="1" i="1" dirty="0">
                <a:latin typeface="Amasis MT Pro Medium" panose="02040604050005020304" pitchFamily="18" charset="0"/>
              </a:rPr>
              <a:t>To explore novel attack strategies: hybrid pipelines, confidence-adaptive FGSM, class-sensitivity attacks</a:t>
            </a:r>
          </a:p>
          <a:p>
            <a:pPr lvl="0"/>
            <a:r>
              <a:rPr lang="en-IN" b="1" i="1" dirty="0">
                <a:latin typeface="Amasis MT Pro Medium" panose="02040604050005020304" pitchFamily="18" charset="0"/>
              </a:rPr>
              <a:t>To survey and evaluate </a:t>
            </a:r>
            <a:r>
              <a:rPr lang="en-IN" b="1" i="1" dirty="0" err="1">
                <a:latin typeface="Amasis MT Pro Medium" panose="02040604050005020304" pitchFamily="18" charset="0"/>
              </a:rPr>
              <a:t>defense</a:t>
            </a:r>
            <a:r>
              <a:rPr lang="en-IN" b="1" i="1" dirty="0">
                <a:latin typeface="Amasis MT Pro Medium" panose="02040604050005020304" pitchFamily="18" charset="0"/>
              </a:rPr>
              <a:t> mechanisms including adversarial training, input preprocessing, and confidence-based detection</a:t>
            </a:r>
          </a:p>
          <a:p>
            <a:pPr lvl="0"/>
            <a:r>
              <a:rPr lang="en-IN" b="1" i="1" dirty="0">
                <a:latin typeface="Amasis MT Pro Medium" panose="02040604050005020304" pitchFamily="18" charset="0"/>
              </a:rPr>
              <a:t>To lay the theoretical and experimental foundation for proposing a new attack or </a:t>
            </a:r>
            <a:r>
              <a:rPr lang="en-IN" b="1" i="1" dirty="0" err="1">
                <a:latin typeface="Amasis MT Pro Medium" panose="02040604050005020304" pitchFamily="18" charset="0"/>
              </a:rPr>
              <a:t>defense</a:t>
            </a:r>
            <a:r>
              <a:rPr lang="en-IN" b="1" i="1" dirty="0">
                <a:latin typeface="Amasis MT Pro Medium" panose="02040604050005020304" pitchFamily="18" charset="0"/>
              </a:rPr>
              <a:t> mechanism</a:t>
            </a:r>
          </a:p>
          <a:p>
            <a:pPr algn="just"/>
            <a:endParaRPr lang="en-US" dirty="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671" y="149554"/>
            <a:ext cx="10515600" cy="1325563"/>
          </a:xfrm>
        </p:spPr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5117"/>
            <a:ext cx="10790209" cy="5201728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sz="1900" dirty="0"/>
              <a:t>Vassilev, A., </a:t>
            </a:r>
            <a:r>
              <a:rPr lang="en-US" sz="1900" dirty="0" err="1"/>
              <a:t>Oprea</a:t>
            </a:r>
            <a:r>
              <a:rPr lang="en-US" sz="1900" dirty="0"/>
              <a:t>, A., Fordyce, A., Anderson, H., Davies, X., &amp; </a:t>
            </a:r>
            <a:r>
              <a:rPr lang="en-US" sz="1900" dirty="0" err="1"/>
              <a:t>Hamin</a:t>
            </a:r>
            <a:r>
              <a:rPr lang="en-US" sz="1900" dirty="0"/>
              <a:t>, </a:t>
            </a:r>
            <a:r>
              <a:rPr lang="en-US" sz="1900" dirty="0" err="1"/>
              <a:t>M.Adversarial</a:t>
            </a:r>
            <a:r>
              <a:rPr lang="en-US" sz="1900" dirty="0"/>
              <a:t> Machine Learning: A Taxonomy and Terminology of Attacks and </a:t>
            </a:r>
            <a:r>
              <a:rPr lang="en-US" sz="1900" dirty="0" err="1"/>
              <a:t>Mitigations.NIST</a:t>
            </a:r>
            <a:r>
              <a:rPr lang="en-US" sz="1900" dirty="0"/>
              <a:t>, 2023..</a:t>
            </a:r>
          </a:p>
          <a:p>
            <a:pPr marL="0" indent="0">
              <a:buNone/>
            </a:pPr>
            <a:br>
              <a:rPr lang="en-US" sz="1900" dirty="0"/>
            </a:br>
            <a:r>
              <a:rPr lang="en-US" sz="1900" dirty="0"/>
              <a:t>2.  Bena, N., </a:t>
            </a:r>
            <a:r>
              <a:rPr lang="en-US" sz="1900" dirty="0" err="1"/>
              <a:t>Anisetti</a:t>
            </a:r>
            <a:r>
              <a:rPr lang="en-US" sz="1900" dirty="0"/>
              <a:t>, M., Damiani, E., Yeun, C. Y., &amp; </a:t>
            </a:r>
            <a:r>
              <a:rPr lang="en-US" sz="1900" dirty="0" err="1"/>
              <a:t>Ardagna</a:t>
            </a:r>
            <a:r>
              <a:rPr lang="en-US" sz="1900" dirty="0"/>
              <a:t>, C. </a:t>
            </a:r>
            <a:r>
              <a:rPr lang="en-US" sz="1900" dirty="0" err="1"/>
              <a:t>A.Protecting</a:t>
            </a:r>
            <a:r>
              <a:rPr lang="en-US" sz="1900" dirty="0"/>
              <a:t> Machine Learning from Poisoning Attacks: A Risk-Based </a:t>
            </a:r>
            <a:r>
              <a:rPr lang="en-US" sz="1900" dirty="0" err="1"/>
              <a:t>Approach.Journal</a:t>
            </a:r>
            <a:r>
              <a:rPr lang="en-US" sz="1900" dirty="0"/>
              <a:t> of Information Security and Applications, 2022.</a:t>
            </a:r>
          </a:p>
          <a:p>
            <a:pPr marL="0" indent="0">
              <a:buNone/>
            </a:pPr>
            <a:br>
              <a:rPr lang="en-US" sz="1900" dirty="0"/>
            </a:br>
            <a:r>
              <a:rPr lang="en-US" sz="1900" dirty="0"/>
              <a:t>3.  </a:t>
            </a:r>
            <a:r>
              <a:rPr lang="en-US" sz="1900" dirty="0" err="1"/>
              <a:t>Pawlicki</a:t>
            </a:r>
            <a:r>
              <a:rPr lang="en-US" sz="1900" dirty="0"/>
              <a:t>, M., </a:t>
            </a:r>
            <a:r>
              <a:rPr lang="en-US" sz="1900" dirty="0" err="1"/>
              <a:t>Pawlicka</a:t>
            </a:r>
            <a:r>
              <a:rPr lang="en-US" sz="1900" dirty="0"/>
              <a:t>, A., </a:t>
            </a:r>
            <a:r>
              <a:rPr lang="en-US" sz="1900" dirty="0" err="1"/>
              <a:t>Kozik</a:t>
            </a:r>
            <a:r>
              <a:rPr lang="en-US" sz="1900" dirty="0"/>
              <a:t>, R., &amp; </a:t>
            </a:r>
            <a:r>
              <a:rPr lang="en-US" sz="1900" dirty="0" err="1"/>
              <a:t>Choraś</a:t>
            </a:r>
            <a:r>
              <a:rPr lang="en-US" sz="1900" dirty="0"/>
              <a:t>, </a:t>
            </a:r>
            <a:r>
              <a:rPr lang="en-US" sz="1900" dirty="0" err="1"/>
              <a:t>M.Survey</a:t>
            </a:r>
            <a:r>
              <a:rPr lang="en-US" sz="1900" dirty="0"/>
              <a:t> on Adversarial Attacks and Defenses in Deep </a:t>
            </a:r>
            <a:r>
              <a:rPr lang="en-US" sz="1900" dirty="0" err="1"/>
              <a:t>Learning.Applied</a:t>
            </a:r>
            <a:r>
              <a:rPr lang="en-US" sz="1900" dirty="0"/>
              <a:t> Sciences, 2021.</a:t>
            </a:r>
          </a:p>
          <a:p>
            <a:pPr marL="0" indent="0">
              <a:buNone/>
            </a:pPr>
            <a:br>
              <a:rPr lang="en-US" sz="1900" dirty="0"/>
            </a:br>
            <a:r>
              <a:rPr lang="en-US" sz="1900" dirty="0"/>
              <a:t>4.  </a:t>
            </a:r>
            <a:r>
              <a:rPr lang="en-US" sz="1900" dirty="0" err="1"/>
              <a:t>Ndayipfukamiye</a:t>
            </a:r>
            <a:r>
              <a:rPr lang="en-US" sz="1900" dirty="0"/>
              <a:t>, D., Ding, X., </a:t>
            </a:r>
            <a:r>
              <a:rPr lang="en-US" sz="1900" dirty="0" err="1"/>
              <a:t>Sarwatt</a:t>
            </a:r>
            <a:r>
              <a:rPr lang="en-US" sz="1900" dirty="0"/>
              <a:t>, D., </a:t>
            </a:r>
            <a:r>
              <a:rPr lang="en-US" sz="1900" dirty="0" err="1"/>
              <a:t>Philipo</a:t>
            </a:r>
            <a:r>
              <a:rPr lang="en-US" sz="1900" dirty="0"/>
              <a:t>, C., &amp; Ning, H.A Systematic Review of GAN-based Adversarial Attacks and Defenses in </a:t>
            </a:r>
            <a:r>
              <a:rPr lang="en-US" sz="1900" dirty="0" err="1"/>
              <a:t>Cybersecurity.IEEE</a:t>
            </a:r>
            <a:r>
              <a:rPr lang="en-US" sz="1900" dirty="0"/>
              <a:t> Access, 2022.</a:t>
            </a:r>
          </a:p>
          <a:p>
            <a:pPr marL="0" indent="0">
              <a:buNone/>
            </a:pPr>
            <a:br>
              <a:rPr lang="en-US" sz="1900" dirty="0"/>
            </a:br>
            <a:r>
              <a:rPr lang="en-US" sz="1900" dirty="0"/>
              <a:t>5. </a:t>
            </a:r>
            <a:r>
              <a:rPr lang="en-US" sz="1900" dirty="0" err="1"/>
              <a:t>Ndayipfukamiye</a:t>
            </a:r>
            <a:r>
              <a:rPr lang="en-US" sz="1900" dirty="0"/>
              <a:t>, D., Ding, X., </a:t>
            </a:r>
            <a:r>
              <a:rPr lang="en-US" sz="1900" dirty="0" err="1"/>
              <a:t>Sarwatt</a:t>
            </a:r>
            <a:r>
              <a:rPr lang="en-US" sz="1900" dirty="0"/>
              <a:t>, D., </a:t>
            </a:r>
            <a:r>
              <a:rPr lang="en-US" sz="1900" dirty="0" err="1"/>
              <a:t>Philipo</a:t>
            </a:r>
            <a:r>
              <a:rPr lang="en-US" sz="1900" dirty="0"/>
              <a:t>, C., &amp; Ning, H.A Systematic Review of GAN-based Adversarial Attacks and Defenses in </a:t>
            </a:r>
            <a:r>
              <a:rPr lang="en-US" sz="1900" dirty="0" err="1"/>
              <a:t>Cybersecurity.IEEE</a:t>
            </a:r>
            <a:r>
              <a:rPr lang="en-US" sz="1900" dirty="0"/>
              <a:t> Access, 2022.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/>
              <a:t>6. </a:t>
            </a:r>
            <a:r>
              <a:rPr lang="en-US" sz="1900" dirty="0" err="1"/>
              <a:t>Muthalagu</a:t>
            </a:r>
            <a:r>
              <a:rPr lang="en-US" sz="1900" dirty="0"/>
              <a:t>, R., Malik, R., &amp; Pawar, </a:t>
            </a:r>
            <a:r>
              <a:rPr lang="en-US" sz="1900" dirty="0" err="1"/>
              <a:t>S.Adversarial</a:t>
            </a:r>
            <a:r>
              <a:rPr lang="en-US" sz="1900" dirty="0"/>
              <a:t> Training and Abstract Interpretation for Robust Malware </a:t>
            </a:r>
            <a:r>
              <a:rPr lang="en-US" sz="1900" dirty="0" err="1"/>
              <a:t>Detection.Computers</a:t>
            </a:r>
            <a:r>
              <a:rPr lang="en-US" sz="1900" dirty="0"/>
              <a:t> &amp; Security, 2023.</a:t>
            </a: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1795</TotalTime>
  <Words>1380</Words>
  <Application>Microsoft Office PowerPoint</Application>
  <PresentationFormat>Widescreen</PresentationFormat>
  <Paragraphs>127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Amasis MT Pro Medium</vt:lpstr>
      <vt:lpstr>Aptos</vt:lpstr>
      <vt:lpstr>Aptos Display</vt:lpstr>
      <vt:lpstr>Arial</vt:lpstr>
      <vt:lpstr>Bahnschrift SemiBold Condensed</vt:lpstr>
      <vt:lpstr>Times New Roman</vt:lpstr>
      <vt:lpstr>Wingdings</vt:lpstr>
      <vt:lpstr>Office Theme</vt:lpstr>
      <vt:lpstr>Adversarial Attacks and Defenses in Machine Learning</vt:lpstr>
      <vt:lpstr>Outline</vt:lpstr>
      <vt:lpstr>Introduction</vt:lpstr>
      <vt:lpstr>Introduction</vt:lpstr>
      <vt:lpstr>Literature Review</vt:lpstr>
      <vt:lpstr>Literature Review</vt:lpstr>
      <vt:lpstr>Problem Statement</vt:lpstr>
      <vt:lpstr>Proposed Solution</vt:lpstr>
      <vt:lpstr>PowerPoint Presentation</vt:lpstr>
      <vt:lpstr>PowerPoint Presentation</vt:lpstr>
      <vt:lpstr>PowerPoint Presentation</vt:lpstr>
      <vt:lpstr>Objectives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Sanjay Gupta</cp:lastModifiedBy>
  <cp:revision>2</cp:revision>
  <dcterms:created xsi:type="dcterms:W3CDTF">2025-09-29T05:03:41Z</dcterms:created>
  <dcterms:modified xsi:type="dcterms:W3CDTF">2026-04-12T23:56:56Z</dcterms:modified>
</cp:coreProperties>
</file>